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8" r:id="rId2"/>
    <p:sldId id="259" r:id="rId3"/>
    <p:sldId id="260" r:id="rId4"/>
    <p:sldId id="261" r:id="rId5"/>
    <p:sldId id="265" r:id="rId6"/>
    <p:sldId id="266" r:id="rId7"/>
    <p:sldId id="263" r:id="rId8"/>
    <p:sldId id="272" r:id="rId9"/>
    <p:sldId id="267" r:id="rId10"/>
    <p:sldId id="268" r:id="rId11"/>
    <p:sldId id="269" r:id="rId12"/>
    <p:sldId id="270" r:id="rId13"/>
    <p:sldId id="271" r:id="rId14"/>
    <p:sldId id="264" r:id="rId1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A43A9B-D340-4E4F-88D2-9EC6AB923FBA}" v="126" dt="2025-09-09T12:41:34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D216B-2B51-4F74-AC22-190D8F747BD6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6717E-762D-4291-8326-28118DC92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766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6717E-762D-4291-8326-28118DC92B5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558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1F6B01-64E6-CAFF-14F8-AF36283BB36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60820"/>
            <a:ext cx="419100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7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docs.civicrm.org/user/en/latest/contributions/invoicing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vodafone-my.sharepoint.com/:x:/r/personal/supriya_basak_vodafone_com/Documents/Data%20Model.xlsx?d=w531d1907e2314f37a535673d53ef628a&amp;csf=1&amp;web=1&amp;e=u8N8nQ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.tools.aws.vodafone.com/browse/VSG-7" TargetMode="External"/><Relationship Id="rId7" Type="http://schemas.openxmlformats.org/officeDocument/2006/relationships/hyperlink" Target="https://jira.tools.aws.vodafone.com/browse/VSG-12" TargetMode="External"/><Relationship Id="rId2" Type="http://schemas.openxmlformats.org/officeDocument/2006/relationships/hyperlink" Target="https://jira.tools.aws.vodafone.com/browse/VSG-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ra.tools.aws.vodafone.com/browse/VSG-10" TargetMode="External"/><Relationship Id="rId5" Type="http://schemas.openxmlformats.org/officeDocument/2006/relationships/hyperlink" Target="https://jira.tools.aws.vodafone.com/browse/VSG-9" TargetMode="External"/><Relationship Id="rId4" Type="http://schemas.openxmlformats.org/officeDocument/2006/relationships/hyperlink" Target="https://jira.tools.aws.vodafone.com/browse/VSG-8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vodafone-my.sharepoint.com/:x:/r/personal/supriya_basak_vodafone_com/Documents/Data%20Model.xlsx?d=w531d1907e2314f37a535673d53ef628a&amp;csf=1&amp;web=1&amp;e=u8N8nQ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34F5BC-359E-F96B-5F19-89C86F0F5C8E}"/>
              </a:ext>
            </a:extLst>
          </p:cNvPr>
          <p:cNvSpPr txBox="1"/>
          <p:nvPr/>
        </p:nvSpPr>
        <p:spPr>
          <a:xfrm>
            <a:off x="705250" y="1029284"/>
            <a:ext cx="3813408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500">
                <a:solidFill>
                  <a:schemeClr val="bg1"/>
                </a:solidFill>
              </a:rPr>
              <a:t>Griffin </a:t>
            </a:r>
          </a:p>
          <a:p>
            <a:r>
              <a:rPr lang="en-GB" sz="2500">
                <a:solidFill>
                  <a:schemeClr val="bg1"/>
                </a:solidFill>
              </a:rPr>
              <a:t>Architecture  </a:t>
            </a:r>
          </a:p>
          <a:p>
            <a:endParaRPr lang="en-GB" sz="2500">
              <a:solidFill>
                <a:schemeClr val="bg1"/>
              </a:solidFill>
            </a:endParaRPr>
          </a:p>
          <a:p>
            <a:r>
              <a:rPr lang="en-GB" sz="2500">
                <a:solidFill>
                  <a:schemeClr val="bg1"/>
                </a:solidFill>
              </a:rPr>
              <a:t>High Level Design v0.1</a:t>
            </a:r>
          </a:p>
        </p:txBody>
      </p:sp>
    </p:spTree>
    <p:extLst>
      <p:ext uri="{BB962C8B-B14F-4D97-AF65-F5344CB8AC3E}">
        <p14:creationId xmlns:p14="http://schemas.microsoft.com/office/powerpoint/2010/main" val="3418791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175C33C-2FC1-4A6C-05EF-3BB5C5A9E4D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>
                <a:solidFill>
                  <a:srgbClr val="FF0000"/>
                </a:solidFill>
              </a:rPr>
              <a:t>Agenda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07FFC-3676-DDE0-F787-D9CC3E1F6028}"/>
              </a:ext>
            </a:extLst>
          </p:cNvPr>
          <p:cNvSpPr txBox="1"/>
          <p:nvPr/>
        </p:nvSpPr>
        <p:spPr>
          <a:xfrm>
            <a:off x="686189" y="1219892"/>
            <a:ext cx="10102236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200"/>
              <a:t>Business Context</a:t>
            </a:r>
          </a:p>
          <a:p>
            <a:pPr marL="285750" indent="-285750">
              <a:buFont typeface="Arial"/>
              <a:buChar char="•"/>
            </a:pPr>
            <a:r>
              <a:rPr lang="en-GB" sz="2200"/>
              <a:t>Objective &amp; Scope</a:t>
            </a:r>
          </a:p>
          <a:p>
            <a:pPr marL="285750" indent="-285750">
              <a:buFont typeface="Arial"/>
              <a:buChar char="•"/>
            </a:pPr>
            <a:r>
              <a:rPr lang="en-GB" sz="2200"/>
              <a:t> High-Level Architecture</a:t>
            </a:r>
          </a:p>
          <a:p>
            <a:pPr marL="285750" indent="-285750">
              <a:buFont typeface="Arial"/>
              <a:buChar char="•"/>
            </a:pPr>
            <a:r>
              <a:rPr lang="en-GB" sz="2200"/>
              <a:t>Data Model</a:t>
            </a:r>
          </a:p>
          <a:p>
            <a:pPr marL="742950" lvl="1" indent="-285750">
              <a:buFont typeface="Courier New"/>
              <a:buChar char="o"/>
            </a:pPr>
            <a:r>
              <a:rPr lang="en-GB" sz="2200"/>
              <a:t>Logical Data Model</a:t>
            </a:r>
          </a:p>
          <a:p>
            <a:pPr marL="742950" lvl="1" indent="-285750">
              <a:buFont typeface="Courier New"/>
              <a:buChar char="o"/>
            </a:pPr>
            <a:r>
              <a:rPr lang="en-GB" sz="2200"/>
              <a:t>Physical Data Model</a:t>
            </a:r>
          </a:p>
          <a:p>
            <a:pPr marL="285750" indent="-285750">
              <a:buFont typeface="Arial"/>
              <a:buChar char="•"/>
            </a:pPr>
            <a:r>
              <a:rPr lang="en-GB" sz="2200"/>
              <a:t>Integration Architecture (Sequence Diagram)</a:t>
            </a:r>
          </a:p>
          <a:p>
            <a:pPr marL="285750" indent="-285750">
              <a:buFont typeface="Arial"/>
              <a:buChar char="•"/>
            </a:pPr>
            <a:r>
              <a:rPr lang="en-GB" sz="2200"/>
              <a:t>Workflow &amp; Process</a:t>
            </a:r>
          </a:p>
          <a:p>
            <a:pPr marL="285750" indent="-285750">
              <a:buFont typeface="Arial"/>
              <a:buChar char="•"/>
            </a:pPr>
            <a:r>
              <a:rPr lang="en-GB" sz="2200"/>
              <a:t>Capability Mapping </a:t>
            </a:r>
          </a:p>
          <a:p>
            <a:pPr marL="285750" indent="-285750">
              <a:buFont typeface="Arial"/>
              <a:buChar char="•"/>
            </a:pPr>
            <a:r>
              <a:rPr lang="en-GB" sz="2200"/>
              <a:t>Security &amp; Access</a:t>
            </a:r>
          </a:p>
          <a:p>
            <a:pPr marL="285750" indent="-285750">
              <a:buFont typeface="Arial"/>
              <a:buChar char="•"/>
            </a:pPr>
            <a:r>
              <a:rPr lang="en-GB" sz="2200"/>
              <a:t>NFR</a:t>
            </a:r>
          </a:p>
          <a:p>
            <a:pPr marL="285750" indent="-285750">
              <a:buFont typeface="Arial"/>
              <a:buChar char="•"/>
            </a:pPr>
            <a:r>
              <a:rPr lang="en-GB" sz="2200"/>
              <a:t>Risks</a:t>
            </a:r>
          </a:p>
          <a:p>
            <a:pPr marL="285750" indent="-285750">
              <a:buFont typeface="Arial"/>
              <a:buChar char="•"/>
            </a:pPr>
            <a:r>
              <a:rPr lang="en-GB" sz="2200"/>
              <a:t>Assumption &amp; Dependency</a:t>
            </a:r>
          </a:p>
          <a:p>
            <a:pPr marL="285750" indent="-285750">
              <a:buFont typeface="Arial"/>
              <a:buChar char="•"/>
            </a:pPr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2142869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448D6-2C12-66F9-C434-C1FEC26BE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C9A6DB7-C5FB-9DB7-63EE-6D51B831660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>
                <a:solidFill>
                  <a:srgbClr val="FF0000"/>
                </a:solidFill>
              </a:rPr>
              <a:t>Business Context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ADA1EB-574F-85D8-69C6-A2AC1F89AA96}"/>
              </a:ext>
            </a:extLst>
          </p:cNvPr>
          <p:cNvSpPr txBox="1"/>
          <p:nvPr/>
        </p:nvSpPr>
        <p:spPr>
          <a:xfrm>
            <a:off x="842513" y="1302589"/>
            <a:ext cx="10521349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/>
              <a:t> Vodafone Operating Company (</a:t>
            </a:r>
            <a:r>
              <a:rPr lang="en-US" sz="2000" err="1"/>
              <a:t>OpCo</a:t>
            </a:r>
            <a:r>
              <a:rPr lang="en-US" sz="2000"/>
              <a:t>) wants to govern the Vantage Tower-managed tower inventory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need to ensure that tower assets are accurately recorded for billing and payment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Ensure that tower assets are accurately recorded for billing and payment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provides visibility from order initiation to asset acceptance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must ensure that tower asset commissioning adheres to regulatory and security standards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need to manage the full lifecycle of tower-related service agreements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ensure accurate and timely payments for tower infrastructure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reflect tower-related costs accurately in financial statements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track and reconcile variable tower usage charges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resolve discrepancies in tower-related payments</a:t>
            </a:r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/>
              <a:t>need visibility into asset, financial, and operational metrics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manage access, roles, and system configurations</a:t>
            </a:r>
          </a:p>
          <a:p>
            <a:pPr marL="342900" indent="-342900">
              <a:buFont typeface="Arial"/>
              <a:buChar char="•"/>
            </a:pPr>
            <a:r>
              <a:rPr lang="en-US" sz="2000"/>
              <a:t>need accurate and automated handling of S16 contracts based on inventory status</a:t>
            </a:r>
          </a:p>
        </p:txBody>
      </p:sp>
    </p:spTree>
    <p:extLst>
      <p:ext uri="{BB962C8B-B14F-4D97-AF65-F5344CB8AC3E}">
        <p14:creationId xmlns:p14="http://schemas.microsoft.com/office/powerpoint/2010/main" val="236766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17FBF-68D3-C46A-4DC1-9CDF17D2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269BE-4696-E972-C52B-8C94490D34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>
                <a:solidFill>
                  <a:srgbClr val="FF0000"/>
                </a:solidFill>
              </a:rPr>
              <a:t>Objective &amp; Scope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290D5-FE35-F6ED-76BE-4B4F8B62D5EA}"/>
              </a:ext>
            </a:extLst>
          </p:cNvPr>
          <p:cNvSpPr txBox="1"/>
          <p:nvPr/>
        </p:nvSpPr>
        <p:spPr>
          <a:xfrm>
            <a:off x="984808" y="1445445"/>
            <a:ext cx="10642293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500" b="1">
                <a:ea typeface="+mn-lt"/>
                <a:cs typeface="+mn-lt"/>
              </a:rPr>
              <a:t>In Scope</a:t>
            </a:r>
            <a:r>
              <a:rPr lang="en-US" sz="1500">
                <a:ea typeface="+mn-lt"/>
                <a:cs typeface="+mn-lt"/>
              </a:rPr>
              <a:t>:</a:t>
            </a:r>
            <a:endParaRPr lang="en-US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Supplier master data, supplier product catalog &amp; rates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Site Agreement/Contract repository (incl. contract line items, specific cost)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Tower Site Inventory and contract ingestion and reconciliation as per MSA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maintain the Tower Site Inventory lifecycle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Integration with Vantage Tower for the Site agreement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Integration with Vantage Tower for the Billing Invoice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S16 contract creation in REFX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Data stewardship for the site agreement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Monthly invoice ingestion, parsing, and line‑level validation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Dispute &amp; approval workflow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Onboarding </a:t>
            </a:r>
            <a:r>
              <a:rPr lang="en-US" sz="1500" err="1">
                <a:ea typeface="+mn-lt"/>
                <a:cs typeface="+mn-lt"/>
              </a:rPr>
              <a:t>OpCo</a:t>
            </a:r>
            <a:r>
              <a:rPr lang="en-US" sz="1500">
                <a:ea typeface="+mn-lt"/>
                <a:cs typeface="+mn-lt"/>
              </a:rPr>
              <a:t> Group in SIP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Reporting &amp; KPIs</a:t>
            </a:r>
            <a:br>
              <a:rPr lang="en-US" sz="1500">
                <a:ea typeface="+mn-lt"/>
                <a:cs typeface="+mn-lt"/>
              </a:rPr>
            </a:br>
            <a:r>
              <a:rPr lang="en-US" sz="1500">
                <a:ea typeface="+mn-lt"/>
                <a:cs typeface="+mn-lt"/>
              </a:rPr>
              <a:t> </a:t>
            </a:r>
            <a:br>
              <a:rPr lang="en-US" sz="1500">
                <a:ea typeface="+mn-lt"/>
                <a:cs typeface="+mn-lt"/>
              </a:rPr>
            </a:br>
            <a:endParaRPr lang="en-US" sz="15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500" b="1">
                <a:ea typeface="+mn-lt"/>
                <a:cs typeface="+mn-lt"/>
              </a:rPr>
              <a:t>Out of Scope</a:t>
            </a:r>
            <a:r>
              <a:rPr lang="en-US" sz="1500">
                <a:ea typeface="+mn-lt"/>
                <a:cs typeface="+mn-lt"/>
              </a:rPr>
              <a:t> (v1):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Order Journey is not covered in the program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Any inventory that is installed on the site and its lifecycle</a:t>
            </a:r>
            <a:endParaRPr lang="en-GB" sz="1500"/>
          </a:p>
          <a:p>
            <a:pPr marL="742950" lvl="1" indent="-285750">
              <a:buFont typeface="Arial"/>
              <a:buChar char="•"/>
            </a:pPr>
            <a:r>
              <a:rPr lang="en-US" sz="1500">
                <a:ea typeface="+mn-lt"/>
                <a:cs typeface="+mn-lt"/>
              </a:rPr>
              <a:t>Individual site assets (like BTS cabinet, switch etc..) costs</a:t>
            </a:r>
            <a:endParaRPr lang="en-GB" sz="1500"/>
          </a:p>
          <a:p>
            <a:pPr algn="l"/>
            <a:endParaRPr lang="en-GB" sz="1500"/>
          </a:p>
        </p:txBody>
      </p:sp>
    </p:spTree>
    <p:extLst>
      <p:ext uri="{BB962C8B-B14F-4D97-AF65-F5344CB8AC3E}">
        <p14:creationId xmlns:p14="http://schemas.microsoft.com/office/powerpoint/2010/main" val="414675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DA3A684-1769-CEF3-0E84-1A6CE739C095}"/>
              </a:ext>
            </a:extLst>
          </p:cNvPr>
          <p:cNvGrpSpPr/>
          <p:nvPr/>
        </p:nvGrpSpPr>
        <p:grpSpPr>
          <a:xfrm>
            <a:off x="3697675" y="2274997"/>
            <a:ext cx="7884901" cy="4302423"/>
            <a:chOff x="2143044" y="631927"/>
            <a:chExt cx="6511148" cy="3479395"/>
          </a:xfrm>
        </p:grpSpPr>
        <p:sp>
          <p:nvSpPr>
            <p:cNvPr id="47" name="TextBox 65">
              <a:extLst>
                <a:ext uri="{FF2B5EF4-FFF2-40B4-BE49-F238E27FC236}">
                  <a16:creationId xmlns:a16="http://schemas.microsoft.com/office/drawing/2014/main" id="{CD03C8D0-E6FD-4E9D-BCF7-3AACD17C4C3D}"/>
                </a:ext>
              </a:extLst>
            </p:cNvPr>
            <p:cNvSpPr txBox="1"/>
            <p:nvPr/>
          </p:nvSpPr>
          <p:spPr>
            <a:xfrm>
              <a:off x="3011371" y="1939204"/>
              <a:ext cx="948614" cy="257284"/>
            </a:xfrm>
            <a:prstGeom prst="rect">
              <a:avLst/>
            </a:prstGeom>
          </p:spPr>
          <p:txBody>
            <a:bodyPr wrap="none" lIns="0" tIns="0" rIns="0" bIns="0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33"/>
              <a:endParaRPr lang="en-GB" sz="1000">
                <a:solidFill>
                  <a:srgbClr val="000000"/>
                </a:solidFill>
                <a:latin typeface="Vodafone Rg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5D8ED41-CCAA-9292-854B-C4E995337D5B}"/>
                </a:ext>
              </a:extLst>
            </p:cNvPr>
            <p:cNvSpPr/>
            <p:nvPr/>
          </p:nvSpPr>
          <p:spPr>
            <a:xfrm>
              <a:off x="3570505" y="2866232"/>
              <a:ext cx="1692000" cy="756000"/>
            </a:xfrm>
            <a:prstGeom prst="rect">
              <a:avLst/>
            </a:prstGeom>
            <a:solidFill>
              <a:srgbClr val="5E2750">
                <a:alpha val="60000"/>
              </a:srgbClr>
            </a:solidFill>
            <a:ln w="25400" cap="flat" cmpd="sng" algn="ctr">
              <a:noFill/>
              <a:prstDash val="solid"/>
            </a:ln>
            <a:effectLst>
              <a:outerShdw blurRad="50800" dist="50800" dir="2700000" algn="tl" rotWithShape="0">
                <a:srgbClr val="54575A">
                  <a:alpha val="4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4446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000">
                <a:solidFill>
                  <a:srgbClr val="FFFFFF"/>
                </a:solidFill>
                <a:latin typeface="Vodafone Rg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D3F4CF6-E03B-466E-A184-D7DEA0C2C84B}"/>
                </a:ext>
              </a:extLst>
            </p:cNvPr>
            <p:cNvSpPr/>
            <p:nvPr/>
          </p:nvSpPr>
          <p:spPr>
            <a:xfrm>
              <a:off x="4461768" y="2920232"/>
              <a:ext cx="720000" cy="648000"/>
            </a:xfrm>
            <a:prstGeom prst="rect">
              <a:avLst/>
            </a:prstGeom>
            <a:solidFill>
              <a:srgbClr val="5E2750"/>
            </a:solidFill>
            <a:ln w="25400" cap="flat" cmpd="sng" algn="ctr">
              <a:noFill/>
              <a:prstDash val="solid"/>
            </a:ln>
            <a:effectLst>
              <a:outerShdw blurRad="50800" dist="50800" dir="2700000" algn="tl" rotWithShape="0">
                <a:srgbClr val="54575A">
                  <a:alpha val="4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44467">
                <a:lnSpc>
                  <a:spcPct val="90000"/>
                </a:lnSpc>
                <a:spcBef>
                  <a:spcPct val="0"/>
                </a:spcBef>
              </a:pPr>
              <a:r>
                <a:rPr lang="en-GB" sz="1000" b="1">
                  <a:solidFill>
                    <a:srgbClr val="FFFFFF"/>
                  </a:solidFill>
                  <a:latin typeface="Vodafone Rg" pitchFamily="34" charset="0"/>
                </a:rPr>
                <a:t>SAP</a:t>
              </a:r>
            </a:p>
            <a:p>
              <a:pPr algn="ctr" defTabSz="444467">
                <a:lnSpc>
                  <a:spcPct val="90000"/>
                </a:lnSpc>
                <a:spcBef>
                  <a:spcPct val="0"/>
                </a:spcBef>
              </a:pPr>
              <a:r>
                <a:rPr lang="en-GB" sz="1000" b="1">
                  <a:solidFill>
                    <a:srgbClr val="FFFFFF"/>
                  </a:solidFill>
                  <a:latin typeface="Vodafone Rg" pitchFamily="34" charset="0"/>
                </a:rPr>
                <a:t>EVO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27840F5-7CB6-39F8-1FB0-34528BC4F864}"/>
                </a:ext>
              </a:extLst>
            </p:cNvPr>
            <p:cNvSpPr/>
            <p:nvPr/>
          </p:nvSpPr>
          <p:spPr>
            <a:xfrm>
              <a:off x="3651242" y="2920232"/>
              <a:ext cx="720000" cy="648000"/>
            </a:xfrm>
            <a:prstGeom prst="rect">
              <a:avLst/>
            </a:prstGeom>
            <a:solidFill>
              <a:srgbClr val="5E2750"/>
            </a:solidFill>
            <a:ln w="25400" cap="flat" cmpd="sng" algn="ctr">
              <a:noFill/>
              <a:prstDash val="solid"/>
            </a:ln>
            <a:effectLst>
              <a:outerShdw blurRad="50800" dist="50800" dir="2700000" algn="tl" rotWithShape="0">
                <a:srgbClr val="54575A">
                  <a:alpha val="4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44467">
                <a:lnSpc>
                  <a:spcPct val="90000"/>
                </a:lnSpc>
                <a:spcBef>
                  <a:spcPct val="0"/>
                </a:spcBef>
              </a:pPr>
              <a:r>
                <a:rPr lang="en-GB" sz="1000" b="1">
                  <a:solidFill>
                    <a:srgbClr val="FFFFFF"/>
                  </a:solidFill>
                  <a:latin typeface="Vodafone Rg" pitchFamily="34" charset="0"/>
                </a:rPr>
                <a:t>SAP</a:t>
              </a:r>
            </a:p>
            <a:p>
              <a:pPr algn="ctr" defTabSz="444467">
                <a:lnSpc>
                  <a:spcPct val="90000"/>
                </a:lnSpc>
                <a:spcBef>
                  <a:spcPct val="0"/>
                </a:spcBef>
              </a:pPr>
              <a:r>
                <a:rPr lang="en-GB" sz="1000" b="1">
                  <a:solidFill>
                    <a:srgbClr val="FFFFFF"/>
                  </a:solidFill>
                  <a:latin typeface="Vodafone Rg" pitchFamily="34" charset="0"/>
                </a:rPr>
                <a:t>RE-FX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C09F96E-E884-2F6D-FCB0-BFFC16D38F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5665" y="1741974"/>
              <a:ext cx="1567239" cy="37588"/>
            </a:xfrm>
            <a:prstGeom prst="straightConnector1">
              <a:avLst/>
            </a:prstGeom>
            <a:ln w="15875">
              <a:solidFill>
                <a:srgbClr val="54575A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5F10544-118E-E0C1-BCFC-83B85F509C2F}"/>
                </a:ext>
              </a:extLst>
            </p:cNvPr>
            <p:cNvCxnSpPr>
              <a:cxnSpLocks/>
              <a:endCxn id="1050" idx="0"/>
            </p:cNvCxnSpPr>
            <p:nvPr/>
          </p:nvCxnSpPr>
          <p:spPr>
            <a:xfrm>
              <a:off x="6238905" y="1102092"/>
              <a:ext cx="0" cy="501234"/>
            </a:xfrm>
            <a:prstGeom prst="straightConnector1">
              <a:avLst/>
            </a:prstGeom>
            <a:ln w="15875">
              <a:solidFill>
                <a:srgbClr val="54575A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15">
              <a:extLst>
                <a:ext uri="{FF2B5EF4-FFF2-40B4-BE49-F238E27FC236}">
                  <a16:creationId xmlns:a16="http://schemas.microsoft.com/office/drawing/2014/main" id="{79BDB7BB-8025-FE4D-BE2E-1932DFCC8D82}"/>
                </a:ext>
              </a:extLst>
            </p:cNvPr>
            <p:cNvSpPr txBox="1"/>
            <p:nvPr/>
          </p:nvSpPr>
          <p:spPr>
            <a:xfrm>
              <a:off x="6149633" y="1273514"/>
              <a:ext cx="1064394" cy="11541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750" b="1">
                  <a:solidFill>
                    <a:srgbClr val="54575A"/>
                  </a:solidFill>
                  <a:latin typeface="Vodafone Rg" pitchFamily="34" charset="0"/>
                </a:rPr>
                <a:t>Invoice received/ingested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3CBB97A-302B-8659-6FC9-6D96BEB3DAFA}"/>
                </a:ext>
              </a:extLst>
            </p:cNvPr>
            <p:cNvSpPr/>
            <p:nvPr/>
          </p:nvSpPr>
          <p:spPr>
            <a:xfrm>
              <a:off x="5936097" y="1264622"/>
              <a:ext cx="162000" cy="162000"/>
            </a:xfrm>
            <a:prstGeom prst="ellipse">
              <a:avLst/>
            </a:prstGeom>
            <a:solidFill>
              <a:srgbClr val="E6000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763" tIns="4763" rIns="4763" bIns="4763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3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b="1">
                  <a:solidFill>
                    <a:schemeClr val="bg1"/>
                  </a:solidFill>
                  <a:latin typeface="Vodafone Rg" pitchFamily="34" charset="0"/>
                </a:rPr>
                <a:t>5</a:t>
              </a:r>
            </a:p>
          </p:txBody>
        </p:sp>
        <p:pic>
          <p:nvPicPr>
            <p:cNvPr id="55" name="Picture 54" descr="A white paper with black text&#10;&#10;Description automatically generated">
              <a:extLst>
                <a:ext uri="{FF2B5EF4-FFF2-40B4-BE49-F238E27FC236}">
                  <a16:creationId xmlns:a16="http://schemas.microsoft.com/office/drawing/2014/main" id="{A6A68042-0F2D-D92F-4DC0-F58B4C858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5972048" y="631927"/>
              <a:ext cx="508263" cy="517102"/>
            </a:xfrm>
            <a:prstGeom prst="rect">
              <a:avLst/>
            </a:prstGeom>
            <a:ln w="3175">
              <a:solidFill>
                <a:srgbClr val="25282B"/>
              </a:solidFill>
            </a:ln>
            <a:effectLst>
              <a:outerShdw blurRad="50800" dist="38100" dir="2700000" algn="tl" rotWithShape="0">
                <a:srgbClr val="25282B">
                  <a:alpha val="40000"/>
                </a:srgbClr>
              </a:outerShdw>
            </a:effectLst>
          </p:spPr>
        </p:pic>
        <p:sp>
          <p:nvSpPr>
            <p:cNvPr id="56" name="TextBox 23">
              <a:extLst>
                <a:ext uri="{FF2B5EF4-FFF2-40B4-BE49-F238E27FC236}">
                  <a16:creationId xmlns:a16="http://schemas.microsoft.com/office/drawing/2014/main" id="{4DCF59EF-59E4-79A9-71EE-02D52106AD9E}"/>
                </a:ext>
              </a:extLst>
            </p:cNvPr>
            <p:cNvSpPr txBox="1"/>
            <p:nvPr/>
          </p:nvSpPr>
          <p:spPr>
            <a:xfrm>
              <a:off x="4221062" y="1609823"/>
              <a:ext cx="591509" cy="115416"/>
            </a:xfrm>
            <a:prstGeom prst="rect">
              <a:avLst/>
            </a:prstGeom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750" b="1">
                  <a:solidFill>
                    <a:srgbClr val="54575A"/>
                  </a:solidFill>
                  <a:latin typeface="Vodafone Rg" pitchFamily="34" charset="0"/>
                </a:rPr>
                <a:t>Line level data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FF26EFF-81CF-D821-A4D7-62F5A515E811}"/>
                </a:ext>
              </a:extLst>
            </p:cNvPr>
            <p:cNvSpPr/>
            <p:nvPr/>
          </p:nvSpPr>
          <p:spPr>
            <a:xfrm>
              <a:off x="4019483" y="1586135"/>
              <a:ext cx="162000" cy="162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763" tIns="4763" rIns="4763" bIns="4763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3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b="1">
                  <a:solidFill>
                    <a:schemeClr val="bg1"/>
                  </a:solidFill>
                  <a:latin typeface="Vodafone Rg" pitchFamily="34" charset="0"/>
                </a:rPr>
                <a:t>6</a:t>
              </a:r>
            </a:p>
          </p:txBody>
        </p:sp>
        <p:cxnSp>
          <p:nvCxnSpPr>
            <p:cNvPr id="60" name="Connector: Elbow 59">
              <a:extLst>
                <a:ext uri="{FF2B5EF4-FFF2-40B4-BE49-F238E27FC236}">
                  <a16:creationId xmlns:a16="http://schemas.microsoft.com/office/drawing/2014/main" id="{8FE368B8-32C0-2779-CD97-A062F2E0786E}"/>
                </a:ext>
              </a:extLst>
            </p:cNvPr>
            <p:cNvCxnSpPr>
              <a:cxnSpLocks/>
              <a:stCxn id="50" idx="2"/>
              <a:endCxn id="49" idx="2"/>
            </p:cNvCxnSpPr>
            <p:nvPr/>
          </p:nvCxnSpPr>
          <p:spPr>
            <a:xfrm rot="16200000" flipH="1">
              <a:off x="4416505" y="3162969"/>
              <a:ext cx="12700" cy="810526"/>
            </a:xfrm>
            <a:prstGeom prst="bentConnector3">
              <a:avLst>
                <a:gd name="adj1" fmla="val 2796921"/>
              </a:avLst>
            </a:prstGeom>
            <a:ln w="15875">
              <a:solidFill>
                <a:srgbClr val="25282B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39">
              <a:extLst>
                <a:ext uri="{FF2B5EF4-FFF2-40B4-BE49-F238E27FC236}">
                  <a16:creationId xmlns:a16="http://schemas.microsoft.com/office/drawing/2014/main" id="{8E391227-1FE4-A5A8-0567-905089A37A2B}"/>
                </a:ext>
              </a:extLst>
            </p:cNvPr>
            <p:cNvSpPr txBox="1"/>
            <p:nvPr/>
          </p:nvSpPr>
          <p:spPr>
            <a:xfrm>
              <a:off x="3998529" y="3974991"/>
              <a:ext cx="886461" cy="11541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750" b="1">
                  <a:solidFill>
                    <a:srgbClr val="54575A"/>
                  </a:solidFill>
                  <a:latin typeface="Vodafone Rg" pitchFamily="34" charset="0"/>
                </a:rPr>
                <a:t>S16 monthly postings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116BED07-C820-4CB4-BD3E-9285AABE8918}"/>
                </a:ext>
              </a:extLst>
            </p:cNvPr>
            <p:cNvCxnSpPr>
              <a:cxnSpLocks/>
              <a:endCxn id="1050" idx="1"/>
            </p:cNvCxnSpPr>
            <p:nvPr/>
          </p:nvCxnSpPr>
          <p:spPr>
            <a:xfrm flipV="1">
              <a:off x="3481003" y="1981326"/>
              <a:ext cx="1911902" cy="45488"/>
            </a:xfrm>
            <a:prstGeom prst="straightConnector1">
              <a:avLst/>
            </a:prstGeom>
            <a:ln w="15875">
              <a:solidFill>
                <a:srgbClr val="54575A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D899DF8-0244-6D59-FDFF-3D6519AEFB12}"/>
                </a:ext>
              </a:extLst>
            </p:cNvPr>
            <p:cNvCxnSpPr>
              <a:cxnSpLocks/>
            </p:cNvCxnSpPr>
            <p:nvPr/>
          </p:nvCxnSpPr>
          <p:spPr>
            <a:xfrm>
              <a:off x="3481003" y="2274065"/>
              <a:ext cx="1911902" cy="0"/>
            </a:xfrm>
            <a:prstGeom prst="straightConnector1">
              <a:avLst/>
            </a:prstGeom>
            <a:ln w="15875">
              <a:solidFill>
                <a:srgbClr val="54575A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EFC7197B-C2E0-4F6E-BE6D-D8C95E306AD6}"/>
                </a:ext>
              </a:extLst>
            </p:cNvPr>
            <p:cNvSpPr/>
            <p:nvPr/>
          </p:nvSpPr>
          <p:spPr>
            <a:xfrm>
              <a:off x="2143044" y="746847"/>
              <a:ext cx="1691044" cy="1842048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4446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000" b="1">
                <a:solidFill>
                  <a:srgbClr val="FFFFFF"/>
                </a:solidFill>
                <a:latin typeface="Vodafone Rg" pitchFamily="34" charset="0"/>
              </a:endParaRPr>
            </a:p>
            <a:p>
              <a:pPr algn="ctr" defTabSz="44446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000" b="1">
                  <a:solidFill>
                    <a:srgbClr val="FFFFFF"/>
                  </a:solidFill>
                  <a:latin typeface="Vodafone Rg" pitchFamily="34" charset="0"/>
                </a:rPr>
                <a:t>S</a:t>
              </a:r>
            </a:p>
          </p:txBody>
        </p:sp>
        <p:sp>
          <p:nvSpPr>
            <p:cNvPr id="1025" name="TextBox 44">
              <a:extLst>
                <a:ext uri="{FF2B5EF4-FFF2-40B4-BE49-F238E27FC236}">
                  <a16:creationId xmlns:a16="http://schemas.microsoft.com/office/drawing/2014/main" id="{14B04519-90EF-B22F-CC86-B4C8BFFE584A}"/>
                </a:ext>
              </a:extLst>
            </p:cNvPr>
            <p:cNvSpPr txBox="1"/>
            <p:nvPr/>
          </p:nvSpPr>
          <p:spPr>
            <a:xfrm>
              <a:off x="4210644" y="1854242"/>
              <a:ext cx="604333" cy="115416"/>
            </a:xfrm>
            <a:prstGeom prst="rect">
              <a:avLst/>
            </a:prstGeom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33"/>
              <a:r>
                <a:rPr lang="en-GB" sz="750" b="1">
                  <a:solidFill>
                    <a:srgbClr val="54575A"/>
                  </a:solidFill>
                  <a:latin typeface="Vodafone Rg" pitchFamily="34" charset="0"/>
                </a:rPr>
                <a:t>Invoice status</a:t>
              </a:r>
              <a:r>
                <a:rPr lang="en-GB" sz="750" b="1" baseline="30000">
                  <a:solidFill>
                    <a:srgbClr val="E60000"/>
                  </a:solidFill>
                  <a:latin typeface="Vodafone Rg" pitchFamily="34" charset="0"/>
                </a:rPr>
                <a:t>1</a:t>
              </a:r>
            </a:p>
          </p:txBody>
        </p:sp>
        <p:sp>
          <p:nvSpPr>
            <p:cNvPr id="1027" name="Oval 1026">
              <a:extLst>
                <a:ext uri="{FF2B5EF4-FFF2-40B4-BE49-F238E27FC236}">
                  <a16:creationId xmlns:a16="http://schemas.microsoft.com/office/drawing/2014/main" id="{ABDA33B9-3590-0621-6F9B-188FEE7D9752}"/>
                </a:ext>
              </a:extLst>
            </p:cNvPr>
            <p:cNvSpPr/>
            <p:nvPr/>
          </p:nvSpPr>
          <p:spPr>
            <a:xfrm>
              <a:off x="4009064" y="1830950"/>
              <a:ext cx="162000" cy="162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763" tIns="4763" rIns="4763" bIns="4763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3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b="1">
                  <a:solidFill>
                    <a:schemeClr val="bg1"/>
                  </a:solidFill>
                  <a:latin typeface="Vodafone Rg" pitchFamily="34" charset="0"/>
                </a:rPr>
                <a:t>8</a:t>
              </a:r>
            </a:p>
          </p:txBody>
        </p:sp>
        <p:sp>
          <p:nvSpPr>
            <p:cNvPr id="1028" name="TextBox 48">
              <a:extLst>
                <a:ext uri="{FF2B5EF4-FFF2-40B4-BE49-F238E27FC236}">
                  <a16:creationId xmlns:a16="http://schemas.microsoft.com/office/drawing/2014/main" id="{5B230FC8-B36B-5D1C-26E9-6C66F2C939AB}"/>
                </a:ext>
              </a:extLst>
            </p:cNvPr>
            <p:cNvSpPr txBox="1"/>
            <p:nvPr/>
          </p:nvSpPr>
          <p:spPr>
            <a:xfrm>
              <a:off x="4132096" y="2100542"/>
              <a:ext cx="803105" cy="115416"/>
            </a:xfrm>
            <a:prstGeom prst="rect">
              <a:avLst/>
            </a:prstGeom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750" b="1">
                  <a:solidFill>
                    <a:srgbClr val="54575A"/>
                  </a:solidFill>
                  <a:latin typeface="Vodafone Rg" pitchFamily="34" charset="0"/>
                </a:rPr>
                <a:t>Accrual generation</a:t>
              </a:r>
              <a:r>
                <a:rPr lang="en-GB" sz="750" b="1" baseline="30000">
                  <a:solidFill>
                    <a:srgbClr val="E60000"/>
                  </a:solidFill>
                  <a:latin typeface="Vodafone Rg" pitchFamily="34" charset="0"/>
                </a:rPr>
                <a:t>2</a:t>
              </a:r>
            </a:p>
          </p:txBody>
        </p:sp>
        <p:sp>
          <p:nvSpPr>
            <p:cNvPr id="1029" name="Oval 1028">
              <a:extLst>
                <a:ext uri="{FF2B5EF4-FFF2-40B4-BE49-F238E27FC236}">
                  <a16:creationId xmlns:a16="http://schemas.microsoft.com/office/drawing/2014/main" id="{1C60C062-C404-A444-637E-F62A41E090A7}"/>
                </a:ext>
              </a:extLst>
            </p:cNvPr>
            <p:cNvSpPr/>
            <p:nvPr/>
          </p:nvSpPr>
          <p:spPr>
            <a:xfrm>
              <a:off x="3930517" y="2074015"/>
              <a:ext cx="162000" cy="162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763" tIns="4763" rIns="4763" bIns="4763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3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b="1">
                  <a:solidFill>
                    <a:schemeClr val="bg1"/>
                  </a:solidFill>
                  <a:latin typeface="Vodafone Rg" pitchFamily="34" charset="0"/>
                </a:rPr>
                <a:t>10</a:t>
              </a:r>
            </a:p>
          </p:txBody>
        </p:sp>
        <p:sp>
          <p:nvSpPr>
            <p:cNvPr id="1030" name="TextBox 55">
              <a:extLst>
                <a:ext uri="{FF2B5EF4-FFF2-40B4-BE49-F238E27FC236}">
                  <a16:creationId xmlns:a16="http://schemas.microsoft.com/office/drawing/2014/main" id="{658A1908-4C74-6F38-7727-D76C72A55982}"/>
                </a:ext>
              </a:extLst>
            </p:cNvPr>
            <p:cNvSpPr txBox="1"/>
            <p:nvPr/>
          </p:nvSpPr>
          <p:spPr>
            <a:xfrm>
              <a:off x="5743331" y="2461005"/>
              <a:ext cx="2826740" cy="2308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750" b="1">
                  <a:solidFill>
                    <a:srgbClr val="54575A"/>
                  </a:solidFill>
                  <a:latin typeface="Vodafone Rg" pitchFamily="34" charset="0"/>
                </a:rPr>
                <a:t>All invoices posted to EVO</a:t>
              </a:r>
            </a:p>
            <a:p>
              <a:r>
                <a:rPr lang="en-GB" sz="750" b="1">
                  <a:solidFill>
                    <a:srgbClr val="54575A"/>
                  </a:solidFill>
                  <a:latin typeface="Vodafone Rg" pitchFamily="34" charset="0"/>
                </a:rPr>
                <a:t>Non-S16 accruals and deferrals only posted to EVO</a:t>
              </a:r>
            </a:p>
          </p:txBody>
        </p:sp>
        <p:cxnSp>
          <p:nvCxnSpPr>
            <p:cNvPr id="1031" name="Connector: Elbow 1030">
              <a:extLst>
                <a:ext uri="{FF2B5EF4-FFF2-40B4-BE49-F238E27FC236}">
                  <a16:creationId xmlns:a16="http://schemas.microsoft.com/office/drawing/2014/main" id="{AF057C85-AA2F-0B52-AE4A-5CC7336D2587}"/>
                </a:ext>
              </a:extLst>
            </p:cNvPr>
            <p:cNvCxnSpPr>
              <a:cxnSpLocks/>
              <a:stCxn id="1050" idx="2"/>
              <a:endCxn id="49" idx="3"/>
            </p:cNvCxnSpPr>
            <p:nvPr/>
          </p:nvCxnSpPr>
          <p:spPr>
            <a:xfrm rot="5400000">
              <a:off x="5267884" y="2273211"/>
              <a:ext cx="884906" cy="1057136"/>
            </a:xfrm>
            <a:prstGeom prst="bentConnector2">
              <a:avLst/>
            </a:prstGeom>
            <a:ln w="15875">
              <a:solidFill>
                <a:srgbClr val="25282B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TextBox 22">
              <a:extLst>
                <a:ext uri="{FF2B5EF4-FFF2-40B4-BE49-F238E27FC236}">
                  <a16:creationId xmlns:a16="http://schemas.microsoft.com/office/drawing/2014/main" id="{4CC208E6-343B-DC1B-0988-3499F0E311EC}"/>
                </a:ext>
              </a:extLst>
            </p:cNvPr>
            <p:cNvSpPr txBox="1"/>
            <p:nvPr/>
          </p:nvSpPr>
          <p:spPr>
            <a:xfrm>
              <a:off x="6603193" y="812017"/>
              <a:ext cx="1473160" cy="11541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900">
                  <a:solidFill>
                    <a:srgbClr val="54575A"/>
                  </a:solidFill>
                  <a:latin typeface="Vodafone Rg" pitchFamily="34" charset="0"/>
                </a:rPr>
                <a:t>Invoice (pdf) and line level detail (Excel)</a:t>
              </a:r>
            </a:p>
          </p:txBody>
        </p:sp>
        <p:sp>
          <p:nvSpPr>
            <p:cNvPr id="1037" name="TextBox 26">
              <a:extLst>
                <a:ext uri="{FF2B5EF4-FFF2-40B4-BE49-F238E27FC236}">
                  <a16:creationId xmlns:a16="http://schemas.microsoft.com/office/drawing/2014/main" id="{3A0DFE73-D1B6-4686-6710-FA134CD45068}"/>
                </a:ext>
              </a:extLst>
            </p:cNvPr>
            <p:cNvSpPr txBox="1"/>
            <p:nvPr/>
          </p:nvSpPr>
          <p:spPr>
            <a:xfrm>
              <a:off x="4401899" y="968387"/>
              <a:ext cx="1209879" cy="9333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750" b="1">
                  <a:solidFill>
                    <a:srgbClr val="54575A"/>
                  </a:solidFill>
                  <a:latin typeface="Vodafone Rg" pitchFamily="34" charset="0"/>
                </a:rPr>
                <a:t>Case and Product Inventory Creation</a:t>
              </a:r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6F90AD79-F717-EA7C-565C-A059FE245AF4}"/>
                </a:ext>
              </a:extLst>
            </p:cNvPr>
            <p:cNvSpPr/>
            <p:nvPr/>
          </p:nvSpPr>
          <p:spPr>
            <a:xfrm>
              <a:off x="4190821" y="954356"/>
              <a:ext cx="162000" cy="162000"/>
            </a:xfrm>
            <a:prstGeom prst="ellipse">
              <a:avLst/>
            </a:prstGeom>
            <a:solidFill>
              <a:srgbClr val="E6000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763" tIns="4763" rIns="4763" bIns="4763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3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b="1">
                  <a:solidFill>
                    <a:schemeClr val="bg1"/>
                  </a:solidFill>
                  <a:latin typeface="Vodafone Rg" pitchFamily="34" charset="0"/>
                </a:rPr>
                <a:t>1</a:t>
              </a:r>
            </a:p>
          </p:txBody>
        </p:sp>
        <p:sp>
          <p:nvSpPr>
            <p:cNvPr id="1039" name="TextBox 28">
              <a:extLst>
                <a:ext uri="{FF2B5EF4-FFF2-40B4-BE49-F238E27FC236}">
                  <a16:creationId xmlns:a16="http://schemas.microsoft.com/office/drawing/2014/main" id="{E1C5BBE9-4EF0-CCCE-CDCC-26618840F642}"/>
                </a:ext>
              </a:extLst>
            </p:cNvPr>
            <p:cNvSpPr txBox="1"/>
            <p:nvPr/>
          </p:nvSpPr>
          <p:spPr>
            <a:xfrm>
              <a:off x="3878263" y="1212376"/>
              <a:ext cx="1775659" cy="9333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750" b="1">
                  <a:solidFill>
                    <a:srgbClr val="54575A"/>
                  </a:solidFill>
                  <a:latin typeface="Vodafone Rg" pitchFamily="34" charset="0"/>
                </a:rPr>
                <a:t>Approval from OPCO</a:t>
              </a:r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90A50528-49F4-65D3-B7F3-09501B74FC0A}"/>
                </a:ext>
              </a:extLst>
            </p:cNvPr>
            <p:cNvSpPr/>
            <p:nvPr/>
          </p:nvSpPr>
          <p:spPr>
            <a:xfrm>
              <a:off x="4192323" y="1184698"/>
              <a:ext cx="162000" cy="162000"/>
            </a:xfrm>
            <a:prstGeom prst="ellipse">
              <a:avLst/>
            </a:prstGeom>
            <a:solidFill>
              <a:srgbClr val="E6000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763" tIns="4763" rIns="4763" bIns="4763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3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b="1">
                  <a:solidFill>
                    <a:schemeClr val="bg1"/>
                  </a:solidFill>
                  <a:latin typeface="Vodafone Rg" pitchFamily="34" charset="0"/>
                </a:rPr>
                <a:t>2</a:t>
              </a:r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F0B8DF2F-33BC-1E73-1956-832174909375}"/>
                </a:ext>
              </a:extLst>
            </p:cNvPr>
            <p:cNvSpPr/>
            <p:nvPr/>
          </p:nvSpPr>
          <p:spPr>
            <a:xfrm>
              <a:off x="3802229" y="3949322"/>
              <a:ext cx="162000" cy="162000"/>
            </a:xfrm>
            <a:prstGeom prst="ellipse">
              <a:avLst/>
            </a:prstGeom>
            <a:solidFill>
              <a:srgbClr val="E6000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763" tIns="4763" rIns="4763" bIns="4763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3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b="1">
                  <a:solidFill>
                    <a:schemeClr val="bg1"/>
                  </a:solidFill>
                  <a:latin typeface="Vodafone Rg" pitchFamily="34" charset="0"/>
                </a:rPr>
                <a:t>4</a:t>
              </a:r>
            </a:p>
          </p:txBody>
        </p:sp>
        <p:sp>
          <p:nvSpPr>
            <p:cNvPr id="1042" name="TextBox 36">
              <a:extLst>
                <a:ext uri="{FF2B5EF4-FFF2-40B4-BE49-F238E27FC236}">
                  <a16:creationId xmlns:a16="http://schemas.microsoft.com/office/drawing/2014/main" id="{9370208F-644C-36A4-D2D6-97C510E3A468}"/>
                </a:ext>
              </a:extLst>
            </p:cNvPr>
            <p:cNvSpPr txBox="1"/>
            <p:nvPr/>
          </p:nvSpPr>
          <p:spPr>
            <a:xfrm>
              <a:off x="2858277" y="2552962"/>
              <a:ext cx="603615" cy="93338"/>
            </a:xfrm>
            <a:prstGeom prst="rect">
              <a:avLst/>
            </a:prstGeom>
          </p:spPr>
          <p:txBody>
            <a:bodyPr wrap="square" lIns="0" tIns="0" rIns="0" bIns="0" rtlCol="0" anchor="ctr" anchorCtr="1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750">
                  <a:solidFill>
                    <a:schemeClr val="bg1"/>
                  </a:solidFill>
                  <a:latin typeface="Vodafone Rg" pitchFamily="34" charset="0"/>
                </a:rPr>
                <a:t>Matching Contract</a:t>
              </a:r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610AB7CC-33DC-2A15-DD35-2AAC5E2123DA}"/>
                </a:ext>
              </a:extLst>
            </p:cNvPr>
            <p:cNvSpPr/>
            <p:nvPr/>
          </p:nvSpPr>
          <p:spPr>
            <a:xfrm>
              <a:off x="2714229" y="2535465"/>
              <a:ext cx="162000" cy="162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763" tIns="4763" rIns="4763" bIns="4763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3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b="1">
                  <a:solidFill>
                    <a:schemeClr val="bg1"/>
                  </a:solidFill>
                  <a:latin typeface="Vodafone Rg" pitchFamily="34" charset="0"/>
                </a:rPr>
                <a:t>7</a:t>
              </a:r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4C499CA0-3EAE-9A2A-D629-0E4BBAAAF368}"/>
                </a:ext>
              </a:extLst>
            </p:cNvPr>
            <p:cNvSpPr/>
            <p:nvPr/>
          </p:nvSpPr>
          <p:spPr>
            <a:xfrm>
              <a:off x="7217960" y="2426895"/>
              <a:ext cx="162000" cy="162000"/>
            </a:xfrm>
            <a:prstGeom prst="ellipse">
              <a:avLst/>
            </a:prstGeom>
            <a:solidFill>
              <a:srgbClr val="E6000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763" tIns="4763" rIns="4763" bIns="4763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3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b="1">
                  <a:solidFill>
                    <a:schemeClr val="bg1"/>
                  </a:solidFill>
                  <a:latin typeface="Vodafone Rg" pitchFamily="34" charset="0"/>
                </a:rPr>
                <a:t>9</a:t>
              </a:r>
            </a:p>
          </p:txBody>
        </p:sp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4B63597A-66B4-B88C-CE77-3D66D3D2ED34}"/>
                </a:ext>
              </a:extLst>
            </p:cNvPr>
            <p:cNvSpPr/>
            <p:nvPr/>
          </p:nvSpPr>
          <p:spPr>
            <a:xfrm>
              <a:off x="8037202" y="2529838"/>
              <a:ext cx="162000" cy="162000"/>
            </a:xfrm>
            <a:prstGeom prst="ellipse">
              <a:avLst/>
            </a:prstGeom>
            <a:solidFill>
              <a:srgbClr val="E6000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763" tIns="4763" rIns="4763" bIns="4763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3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b="1">
                  <a:solidFill>
                    <a:schemeClr val="bg1"/>
                  </a:solidFill>
                  <a:latin typeface="Vodafone Rg" pitchFamily="34" charset="0"/>
                </a:rPr>
                <a:t>11</a:t>
              </a:r>
            </a:p>
          </p:txBody>
        </p:sp>
        <p:pic>
          <p:nvPicPr>
            <p:cNvPr id="1046" name="Picture 1045">
              <a:extLst>
                <a:ext uri="{FF2B5EF4-FFF2-40B4-BE49-F238E27FC236}">
                  <a16:creationId xmlns:a16="http://schemas.microsoft.com/office/drawing/2014/main" id="{B78B5547-27E0-FC36-49C0-FCDCC4762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91356" y="1893543"/>
              <a:ext cx="310156" cy="288000"/>
            </a:xfrm>
            <a:prstGeom prst="rect">
              <a:avLst/>
            </a:prstGeom>
            <a:ln w="6350">
              <a:solidFill>
                <a:srgbClr val="25282B"/>
              </a:solidFill>
            </a:ln>
            <a:effectLst>
              <a:outerShdw blurRad="50800" dist="50800" dir="2700000" algn="tl" rotWithShape="0">
                <a:srgbClr val="25282B">
                  <a:alpha val="40000"/>
                </a:srgbClr>
              </a:outerShdw>
            </a:effectLst>
          </p:spPr>
        </p:pic>
        <p:sp>
          <p:nvSpPr>
            <p:cNvPr id="1047" name="TextBox 14">
              <a:extLst>
                <a:ext uri="{FF2B5EF4-FFF2-40B4-BE49-F238E27FC236}">
                  <a16:creationId xmlns:a16="http://schemas.microsoft.com/office/drawing/2014/main" id="{59C0FA14-8C32-47C5-C0B9-C77D5FE69E42}"/>
                </a:ext>
              </a:extLst>
            </p:cNvPr>
            <p:cNvSpPr txBox="1"/>
            <p:nvPr/>
          </p:nvSpPr>
          <p:spPr>
            <a:xfrm>
              <a:off x="7136097" y="1684267"/>
              <a:ext cx="1518095" cy="115416"/>
            </a:xfrm>
            <a:prstGeom prst="rect">
              <a:avLst/>
            </a:prstGeom>
          </p:spPr>
          <p:txBody>
            <a:bodyPr wrap="square" lIns="0" tIns="0" rIns="0" bIns="0" rtlCol="0" anchor="ctr" anchorCtr="1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750" b="1">
                  <a:solidFill>
                    <a:srgbClr val="54575A"/>
                  </a:solidFill>
                  <a:latin typeface="Vodafone Rg" pitchFamily="34" charset="0"/>
                </a:rPr>
                <a:t>Accrual exception bucket</a:t>
              </a:r>
            </a:p>
          </p:txBody>
        </p:sp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F2C39A4D-C2CD-3451-ED8A-58903F344AB3}"/>
                </a:ext>
              </a:extLst>
            </p:cNvPr>
            <p:cNvSpPr/>
            <p:nvPr/>
          </p:nvSpPr>
          <p:spPr>
            <a:xfrm>
              <a:off x="7150377" y="1679617"/>
              <a:ext cx="162000" cy="162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763" tIns="4763" rIns="4763" bIns="4763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3335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750" b="1">
                  <a:solidFill>
                    <a:schemeClr val="bg1"/>
                  </a:solidFill>
                  <a:latin typeface="Vodafone Rg" pitchFamily="34" charset="0"/>
                </a:rPr>
                <a:t>10a</a:t>
              </a:r>
            </a:p>
          </p:txBody>
        </p:sp>
        <p:cxnSp>
          <p:nvCxnSpPr>
            <p:cNvPr id="1049" name="Straight Arrow Connector 1048">
              <a:extLst>
                <a:ext uri="{FF2B5EF4-FFF2-40B4-BE49-F238E27FC236}">
                  <a16:creationId xmlns:a16="http://schemas.microsoft.com/office/drawing/2014/main" id="{FB8CE6F9-8DF3-1216-C69B-D9A8F7AA892A}"/>
                </a:ext>
              </a:extLst>
            </p:cNvPr>
            <p:cNvCxnSpPr>
              <a:cxnSpLocks/>
              <a:endCxn id="1046" idx="1"/>
            </p:cNvCxnSpPr>
            <p:nvPr/>
          </p:nvCxnSpPr>
          <p:spPr>
            <a:xfrm>
              <a:off x="5647361" y="2035485"/>
              <a:ext cx="1643995" cy="2058"/>
            </a:xfrm>
            <a:prstGeom prst="straightConnector1">
              <a:avLst/>
            </a:prstGeom>
            <a:ln w="15875">
              <a:solidFill>
                <a:srgbClr val="54575A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0" name="Rectangle 1049">
              <a:extLst>
                <a:ext uri="{FF2B5EF4-FFF2-40B4-BE49-F238E27FC236}">
                  <a16:creationId xmlns:a16="http://schemas.microsoft.com/office/drawing/2014/main" id="{79919799-0996-43C4-B310-3861D0EFA347}"/>
                </a:ext>
              </a:extLst>
            </p:cNvPr>
            <p:cNvSpPr/>
            <p:nvPr/>
          </p:nvSpPr>
          <p:spPr>
            <a:xfrm>
              <a:off x="5392905" y="1603326"/>
              <a:ext cx="1692000" cy="756000"/>
            </a:xfrm>
            <a:prstGeom prst="rect">
              <a:avLst/>
            </a:prstGeom>
            <a:solidFill>
              <a:srgbClr val="00B0CA"/>
            </a:solidFill>
            <a:ln w="25400" cap="flat" cmpd="sng" algn="ctr">
              <a:noFill/>
              <a:prstDash val="solid"/>
            </a:ln>
            <a:effectLst>
              <a:outerShdw blurRad="50800" dist="50800" dir="2700000" algn="tl" rotWithShape="0">
                <a:srgbClr val="54575A">
                  <a:alpha val="4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4446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000" b="1">
                  <a:solidFill>
                    <a:srgbClr val="FFFFFF"/>
                  </a:solidFill>
                  <a:latin typeface="Vodafone Rg" pitchFamily="34" charset="0"/>
                </a:rPr>
                <a:t>FinCA</a:t>
              </a:r>
              <a:endParaRPr lang="en-GB" sz="800" b="1">
                <a:solidFill>
                  <a:srgbClr val="FFFFFF"/>
                </a:solidFill>
                <a:latin typeface="Vodafone Rg" pitchFamily="34" charset="0"/>
              </a:endParaRPr>
            </a:p>
          </p:txBody>
        </p:sp>
      </p:grp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3EC1AC9D-F7E2-3F3D-E571-9E0F5E169646}"/>
              </a:ext>
            </a:extLst>
          </p:cNvPr>
          <p:cNvSpPr/>
          <p:nvPr/>
        </p:nvSpPr>
        <p:spPr>
          <a:xfrm>
            <a:off x="1076322" y="1791495"/>
            <a:ext cx="1434786" cy="861434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44467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000" b="1">
                <a:solidFill>
                  <a:srgbClr val="FFFFFF"/>
                </a:solidFill>
                <a:latin typeface="Vodafone Rg" pitchFamily="34" charset="0"/>
              </a:rPr>
              <a:t>Vantage Tower</a:t>
            </a:r>
          </a:p>
        </p:txBody>
      </p:sp>
      <p:pic>
        <p:nvPicPr>
          <p:cNvPr id="1054" name="Picture 1053" descr="A white paper with black text&#10;&#10;Description automatically generated">
            <a:extLst>
              <a:ext uri="{FF2B5EF4-FFF2-40B4-BE49-F238E27FC236}">
                <a16:creationId xmlns:a16="http://schemas.microsoft.com/office/drawing/2014/main" id="{BF64F9C2-7FDD-CB3A-587A-856FA76D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93118" y="2433064"/>
            <a:ext cx="358043" cy="371958"/>
          </a:xfrm>
          <a:prstGeom prst="rect">
            <a:avLst/>
          </a:prstGeom>
          <a:ln w="3175">
            <a:solidFill>
              <a:srgbClr val="25282B"/>
            </a:solidFill>
          </a:ln>
          <a:effectLst>
            <a:outerShdw blurRad="50800" dist="38100" dir="2700000" algn="tl" rotWithShape="0">
              <a:srgbClr val="25282B">
                <a:alpha val="40000"/>
              </a:srgbClr>
            </a:outerShdw>
          </a:effectLst>
        </p:spPr>
      </p:pic>
      <p:sp>
        <p:nvSpPr>
          <p:cNvPr id="1055" name="Rectangle 1054">
            <a:extLst>
              <a:ext uri="{FF2B5EF4-FFF2-40B4-BE49-F238E27FC236}">
                <a16:creationId xmlns:a16="http://schemas.microsoft.com/office/drawing/2014/main" id="{B6EB81C9-495F-2D7D-42FB-A9FF92B46899}"/>
              </a:ext>
            </a:extLst>
          </p:cNvPr>
          <p:cNvSpPr/>
          <p:nvPr/>
        </p:nvSpPr>
        <p:spPr>
          <a:xfrm>
            <a:off x="983693" y="3023050"/>
            <a:ext cx="1620043" cy="268924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44467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000" b="1">
                <a:solidFill>
                  <a:srgbClr val="FFFFFF"/>
                </a:solidFill>
                <a:latin typeface="Vodafone Rg" pitchFamily="34" charset="0"/>
              </a:rPr>
              <a:t>DXL</a:t>
            </a:r>
          </a:p>
        </p:txBody>
      </p: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4F0091C7-4051-ADC2-71DC-DC1F7A7E2A62}"/>
              </a:ext>
            </a:extLst>
          </p:cNvPr>
          <p:cNvCxnSpPr>
            <a:cxnSpLocks/>
          </p:cNvCxnSpPr>
          <p:nvPr/>
        </p:nvCxnSpPr>
        <p:spPr>
          <a:xfrm flipV="1">
            <a:off x="2561545" y="3083861"/>
            <a:ext cx="1190313" cy="178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9" name="TextBox 1058">
            <a:extLst>
              <a:ext uri="{FF2B5EF4-FFF2-40B4-BE49-F238E27FC236}">
                <a16:creationId xmlns:a16="http://schemas.microsoft.com/office/drawing/2014/main" id="{28E541EF-F2F9-0D3F-8210-5921DB42BF96}"/>
              </a:ext>
            </a:extLst>
          </p:cNvPr>
          <p:cNvSpPr txBox="1"/>
          <p:nvPr/>
        </p:nvSpPr>
        <p:spPr>
          <a:xfrm>
            <a:off x="2621433" y="2639784"/>
            <a:ext cx="1409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Contract Request API</a:t>
            </a:r>
          </a:p>
          <a:p>
            <a:r>
              <a:rPr lang="en-GB" sz="800"/>
              <a:t>Attachment API</a:t>
            </a:r>
          </a:p>
        </p:txBody>
      </p:sp>
      <p:sp>
        <p:nvSpPr>
          <p:cNvPr id="1068" name="Title 1">
            <a:extLst>
              <a:ext uri="{FF2B5EF4-FFF2-40B4-BE49-F238E27FC236}">
                <a16:creationId xmlns:a16="http://schemas.microsoft.com/office/drawing/2014/main" id="{2DFAAB28-5CB0-57CF-2FCA-FD57726F6D09}"/>
              </a:ext>
            </a:extLst>
          </p:cNvPr>
          <p:cNvSpPr txBox="1">
            <a:spLocks/>
          </p:cNvSpPr>
          <p:nvPr/>
        </p:nvSpPr>
        <p:spPr>
          <a:xfrm>
            <a:off x="147781" y="-16921"/>
            <a:ext cx="10515600" cy="66810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>
                <a:solidFill>
                  <a:srgbClr val="FF0000"/>
                </a:solidFill>
              </a:rPr>
              <a:t>High Level Architecture</a:t>
            </a:r>
            <a:endParaRPr lang="en-US" err="1"/>
          </a:p>
        </p:txBody>
      </p:sp>
      <p:sp>
        <p:nvSpPr>
          <p:cNvPr id="1071" name="Rectangle: Rounded Corners 1070">
            <a:extLst>
              <a:ext uri="{FF2B5EF4-FFF2-40B4-BE49-F238E27FC236}">
                <a16:creationId xmlns:a16="http://schemas.microsoft.com/office/drawing/2014/main" id="{B9818858-F95C-5500-81BD-896029AF24D8}"/>
              </a:ext>
            </a:extLst>
          </p:cNvPr>
          <p:cNvSpPr/>
          <p:nvPr/>
        </p:nvSpPr>
        <p:spPr>
          <a:xfrm>
            <a:off x="3783062" y="2601757"/>
            <a:ext cx="1923861" cy="90087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5" name="Rectangle: Rounded Corners 1074">
            <a:extLst>
              <a:ext uri="{FF2B5EF4-FFF2-40B4-BE49-F238E27FC236}">
                <a16:creationId xmlns:a16="http://schemas.microsoft.com/office/drawing/2014/main" id="{0799E636-5DA4-4638-2BE1-247EDD25E9D7}"/>
              </a:ext>
            </a:extLst>
          </p:cNvPr>
          <p:cNvSpPr/>
          <p:nvPr/>
        </p:nvSpPr>
        <p:spPr>
          <a:xfrm>
            <a:off x="3832570" y="2791882"/>
            <a:ext cx="888865" cy="3030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Case</a:t>
            </a:r>
          </a:p>
        </p:txBody>
      </p:sp>
      <p:sp>
        <p:nvSpPr>
          <p:cNvPr id="1076" name="Rectangle: Rounded Corners 1075">
            <a:extLst>
              <a:ext uri="{FF2B5EF4-FFF2-40B4-BE49-F238E27FC236}">
                <a16:creationId xmlns:a16="http://schemas.microsoft.com/office/drawing/2014/main" id="{BB7A097C-33CC-6B6D-3037-9228B63720B0}"/>
              </a:ext>
            </a:extLst>
          </p:cNvPr>
          <p:cNvSpPr/>
          <p:nvPr/>
        </p:nvSpPr>
        <p:spPr>
          <a:xfrm>
            <a:off x="4780934" y="2802769"/>
            <a:ext cx="857048" cy="291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Product Inventory</a:t>
            </a:r>
          </a:p>
        </p:txBody>
      </p:sp>
      <p:sp>
        <p:nvSpPr>
          <p:cNvPr id="1077" name="Rectangle: Rounded Corners 1076">
            <a:extLst>
              <a:ext uri="{FF2B5EF4-FFF2-40B4-BE49-F238E27FC236}">
                <a16:creationId xmlns:a16="http://schemas.microsoft.com/office/drawing/2014/main" id="{B6E25F37-DA7E-C1AA-27A7-1B6A9279E480}"/>
              </a:ext>
            </a:extLst>
          </p:cNvPr>
          <p:cNvSpPr/>
          <p:nvPr/>
        </p:nvSpPr>
        <p:spPr>
          <a:xfrm>
            <a:off x="3832570" y="3222050"/>
            <a:ext cx="1813288" cy="1593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Approval</a:t>
            </a:r>
          </a:p>
        </p:txBody>
      </p:sp>
      <p:sp>
        <p:nvSpPr>
          <p:cNvPr id="1078" name="TextBox 22">
            <a:extLst>
              <a:ext uri="{FF2B5EF4-FFF2-40B4-BE49-F238E27FC236}">
                <a16:creationId xmlns:a16="http://schemas.microsoft.com/office/drawing/2014/main" id="{1C351878-D9BB-8EF0-90DA-7EF6ECA2A825}"/>
              </a:ext>
            </a:extLst>
          </p:cNvPr>
          <p:cNvSpPr txBox="1"/>
          <p:nvPr/>
        </p:nvSpPr>
        <p:spPr>
          <a:xfrm>
            <a:off x="855985" y="2871144"/>
            <a:ext cx="609141" cy="11541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>
                <a:solidFill>
                  <a:srgbClr val="54575A"/>
                </a:solidFill>
                <a:latin typeface="Vodafone Rg" pitchFamily="34" charset="0"/>
              </a:rPr>
              <a:t>Site Agreement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D2939475-0A1B-B1CB-34D1-3E7567F335CF}"/>
              </a:ext>
            </a:extLst>
          </p:cNvPr>
          <p:cNvSpPr txBox="1"/>
          <p:nvPr/>
        </p:nvSpPr>
        <p:spPr>
          <a:xfrm>
            <a:off x="4374726" y="2584573"/>
            <a:ext cx="1592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Staging</a:t>
            </a:r>
          </a:p>
        </p:txBody>
      </p:sp>
      <p:cxnSp>
        <p:nvCxnSpPr>
          <p:cNvPr id="1091" name="Connector: Elbow 1090">
            <a:extLst>
              <a:ext uri="{FF2B5EF4-FFF2-40B4-BE49-F238E27FC236}">
                <a16:creationId xmlns:a16="http://schemas.microsoft.com/office/drawing/2014/main" id="{459D9DCC-1DD7-80B9-8BEE-C45C173161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26537" y="4669879"/>
            <a:ext cx="1421726" cy="2489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B5F1EEE1-D088-FA56-236C-E8C95CB41801}"/>
              </a:ext>
            </a:extLst>
          </p:cNvPr>
          <p:cNvCxnSpPr>
            <a:stCxn id="1053" idx="0"/>
            <a:endCxn id="55" idx="0"/>
          </p:cNvCxnSpPr>
          <p:nvPr/>
        </p:nvCxnSpPr>
        <p:spPr>
          <a:xfrm rot="16200000" flipH="1">
            <a:off x="4976252" y="-1391043"/>
            <a:ext cx="483501" cy="6848576"/>
          </a:xfrm>
          <a:prstGeom prst="bentConnector3">
            <a:avLst>
              <a:gd name="adj1" fmla="val -472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6FDE81FB-0655-7928-70C4-BA96BFFEDD49}"/>
              </a:ext>
            </a:extLst>
          </p:cNvPr>
          <p:cNvSpPr/>
          <p:nvPr/>
        </p:nvSpPr>
        <p:spPr>
          <a:xfrm>
            <a:off x="3614625" y="1401709"/>
            <a:ext cx="1620043" cy="268924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44467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000" b="1">
                <a:solidFill>
                  <a:srgbClr val="FFFFFF"/>
                </a:solidFill>
                <a:latin typeface="Vodafone Rg" pitchFamily="34" charset="0"/>
              </a:rPr>
              <a:t>DXL</a:t>
            </a:r>
          </a:p>
        </p:txBody>
      </p:sp>
      <p:sp>
        <p:nvSpPr>
          <p:cNvPr id="1099" name="TextBox 28">
            <a:extLst>
              <a:ext uri="{FF2B5EF4-FFF2-40B4-BE49-F238E27FC236}">
                <a16:creationId xmlns:a16="http://schemas.microsoft.com/office/drawing/2014/main" id="{3EDFFC09-0932-E40E-253D-C0A6A57B17B9}"/>
              </a:ext>
            </a:extLst>
          </p:cNvPr>
          <p:cNvSpPr txBox="1"/>
          <p:nvPr/>
        </p:nvSpPr>
        <p:spPr>
          <a:xfrm>
            <a:off x="3014369" y="4769966"/>
            <a:ext cx="1360357" cy="346249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b="1">
                <a:solidFill>
                  <a:srgbClr val="54575A"/>
                </a:solidFill>
                <a:latin typeface="Vodafone Rg" pitchFamily="34" charset="0"/>
              </a:rPr>
              <a:t>Tower Site and Contract, Contract Line Item creation after the approval</a:t>
            </a:r>
          </a:p>
        </p:txBody>
      </p:sp>
      <p:sp>
        <p:nvSpPr>
          <p:cNvPr id="1100" name="Oval 1099">
            <a:extLst>
              <a:ext uri="{FF2B5EF4-FFF2-40B4-BE49-F238E27FC236}">
                <a16:creationId xmlns:a16="http://schemas.microsoft.com/office/drawing/2014/main" id="{14415DAF-F2AC-F53B-CEBE-562F18FFF70A}"/>
              </a:ext>
            </a:extLst>
          </p:cNvPr>
          <p:cNvSpPr/>
          <p:nvPr/>
        </p:nvSpPr>
        <p:spPr>
          <a:xfrm>
            <a:off x="2833050" y="4747323"/>
            <a:ext cx="196180" cy="200320"/>
          </a:xfrm>
          <a:prstGeom prst="ellipse">
            <a:avLst/>
          </a:prstGeom>
          <a:solidFill>
            <a:srgbClr val="E6000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763" tIns="4763" rIns="4763" bIns="4763" numCol="1" spcCol="127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33359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750" b="1">
                <a:solidFill>
                  <a:schemeClr val="bg1"/>
                </a:solidFill>
                <a:latin typeface="Vodafone Rg" pitchFamily="34" charset="0"/>
              </a:rPr>
              <a:t>3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3F984F79-AC1E-2E01-B8AF-1CA937C9FCF9}"/>
              </a:ext>
            </a:extLst>
          </p:cNvPr>
          <p:cNvSpPr txBox="1"/>
          <p:nvPr/>
        </p:nvSpPr>
        <p:spPr>
          <a:xfrm>
            <a:off x="6481384" y="1526342"/>
            <a:ext cx="14094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Billing API</a:t>
            </a: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4372E9E3-423F-DA69-A157-B8F94C96506D}"/>
              </a:ext>
            </a:extLst>
          </p:cNvPr>
          <p:cNvSpPr/>
          <p:nvPr/>
        </p:nvSpPr>
        <p:spPr>
          <a:xfrm>
            <a:off x="10382630" y="160808"/>
            <a:ext cx="1661589" cy="610226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</a:rPr>
              <a:t>Need to Review</a:t>
            </a: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33E4962D-41F0-1DC6-6DB3-5A22E6C597E2}"/>
              </a:ext>
            </a:extLst>
          </p:cNvPr>
          <p:cNvSpPr/>
          <p:nvPr/>
        </p:nvSpPr>
        <p:spPr>
          <a:xfrm>
            <a:off x="928575" y="3729192"/>
            <a:ext cx="1620043" cy="26892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44467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000" b="1">
                <a:solidFill>
                  <a:srgbClr val="FFFFFF"/>
                </a:solidFill>
                <a:latin typeface="Vodafone Rg" pitchFamily="34" charset="0"/>
              </a:rPr>
              <a:t>Local Market</a:t>
            </a:r>
          </a:p>
        </p:txBody>
      </p:sp>
      <p:cxnSp>
        <p:nvCxnSpPr>
          <p:cNvPr id="1105" name="Connector: Elbow 1104">
            <a:extLst>
              <a:ext uri="{FF2B5EF4-FFF2-40B4-BE49-F238E27FC236}">
                <a16:creationId xmlns:a16="http://schemas.microsoft.com/office/drawing/2014/main" id="{03C430B0-EC5B-F185-0C52-D68F3702A1E7}"/>
              </a:ext>
            </a:extLst>
          </p:cNvPr>
          <p:cNvCxnSpPr>
            <a:stCxn id="1103" idx="3"/>
            <a:endCxn id="1077" idx="1"/>
          </p:cNvCxnSpPr>
          <p:nvPr/>
        </p:nvCxnSpPr>
        <p:spPr>
          <a:xfrm flipV="1">
            <a:off x="2548618" y="3301723"/>
            <a:ext cx="1283952" cy="5619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8" name="Rectangle: Rounded Corners 1107">
            <a:extLst>
              <a:ext uri="{FF2B5EF4-FFF2-40B4-BE49-F238E27FC236}">
                <a16:creationId xmlns:a16="http://schemas.microsoft.com/office/drawing/2014/main" id="{6EDD802C-F26E-CA15-214A-F5B694FA5E7E}"/>
              </a:ext>
            </a:extLst>
          </p:cNvPr>
          <p:cNvSpPr/>
          <p:nvPr/>
        </p:nvSpPr>
        <p:spPr>
          <a:xfrm>
            <a:off x="3787275" y="3688012"/>
            <a:ext cx="1923861" cy="99476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9" name="Rectangle: Rounded Corners 1108">
            <a:extLst>
              <a:ext uri="{FF2B5EF4-FFF2-40B4-BE49-F238E27FC236}">
                <a16:creationId xmlns:a16="http://schemas.microsoft.com/office/drawing/2014/main" id="{ABF19B10-C832-574C-2034-55B40ED536B8}"/>
              </a:ext>
            </a:extLst>
          </p:cNvPr>
          <p:cNvSpPr/>
          <p:nvPr/>
        </p:nvSpPr>
        <p:spPr>
          <a:xfrm>
            <a:off x="3879571" y="3888455"/>
            <a:ext cx="845732" cy="175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Portal</a:t>
            </a:r>
          </a:p>
        </p:txBody>
      </p:sp>
      <p:sp>
        <p:nvSpPr>
          <p:cNvPr id="1110" name="Rectangle: Rounded Corners 1109">
            <a:extLst>
              <a:ext uri="{FF2B5EF4-FFF2-40B4-BE49-F238E27FC236}">
                <a16:creationId xmlns:a16="http://schemas.microsoft.com/office/drawing/2014/main" id="{E081DB33-0CA7-CCBF-34C2-2942590394E8}"/>
              </a:ext>
            </a:extLst>
          </p:cNvPr>
          <p:cNvSpPr/>
          <p:nvPr/>
        </p:nvSpPr>
        <p:spPr>
          <a:xfrm>
            <a:off x="4784737" y="3889513"/>
            <a:ext cx="856272" cy="1753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Tower Site</a:t>
            </a:r>
          </a:p>
        </p:txBody>
      </p:sp>
      <p:cxnSp>
        <p:nvCxnSpPr>
          <p:cNvPr id="1111" name="Straight Arrow Connector 1110">
            <a:extLst>
              <a:ext uri="{FF2B5EF4-FFF2-40B4-BE49-F238E27FC236}">
                <a16:creationId xmlns:a16="http://schemas.microsoft.com/office/drawing/2014/main" id="{316A69FF-794D-FA3B-3B8D-215D42E0C4F7}"/>
              </a:ext>
            </a:extLst>
          </p:cNvPr>
          <p:cNvCxnSpPr>
            <a:cxnSpLocks/>
          </p:cNvCxnSpPr>
          <p:nvPr/>
        </p:nvCxnSpPr>
        <p:spPr>
          <a:xfrm>
            <a:off x="4739214" y="3298769"/>
            <a:ext cx="9992" cy="328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2" name="Rectangle: Rounded Corners 1111">
            <a:extLst>
              <a:ext uri="{FF2B5EF4-FFF2-40B4-BE49-F238E27FC236}">
                <a16:creationId xmlns:a16="http://schemas.microsoft.com/office/drawing/2014/main" id="{16BB68DD-2930-FDBF-7A18-CDF0C9ED6F6B}"/>
              </a:ext>
            </a:extLst>
          </p:cNvPr>
          <p:cNvSpPr/>
          <p:nvPr/>
        </p:nvSpPr>
        <p:spPr>
          <a:xfrm>
            <a:off x="3878759" y="4171974"/>
            <a:ext cx="845732" cy="175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Report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3A6592C6-246E-0795-FF41-7FE300A0F52E}"/>
              </a:ext>
            </a:extLst>
          </p:cNvPr>
          <p:cNvSpPr txBox="1"/>
          <p:nvPr/>
        </p:nvSpPr>
        <p:spPr>
          <a:xfrm>
            <a:off x="3944156" y="3649918"/>
            <a:ext cx="20075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Vendor Asset Management</a:t>
            </a: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1D7813F-D983-E5BD-40F9-B2659AD7855C}"/>
              </a:ext>
            </a:extLst>
          </p:cNvPr>
          <p:cNvSpPr/>
          <p:nvPr/>
        </p:nvSpPr>
        <p:spPr>
          <a:xfrm>
            <a:off x="4810923" y="4154482"/>
            <a:ext cx="845732" cy="175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Contract</a:t>
            </a:r>
          </a:p>
        </p:txBody>
      </p:sp>
      <p:sp>
        <p:nvSpPr>
          <p:cNvPr id="1119" name="TextBox 28">
            <a:extLst>
              <a:ext uri="{FF2B5EF4-FFF2-40B4-BE49-F238E27FC236}">
                <a16:creationId xmlns:a16="http://schemas.microsoft.com/office/drawing/2014/main" id="{42306B71-EED5-EA4D-7B78-62F66866878E}"/>
              </a:ext>
            </a:extLst>
          </p:cNvPr>
          <p:cNvSpPr txBox="1"/>
          <p:nvPr/>
        </p:nvSpPr>
        <p:spPr>
          <a:xfrm>
            <a:off x="3584939" y="2417605"/>
            <a:ext cx="2150296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b="1">
                <a:solidFill>
                  <a:srgbClr val="54575A"/>
                </a:solidFill>
                <a:latin typeface="Vodafone Rg" pitchFamily="34" charset="0"/>
              </a:rPr>
              <a:t>SIP</a:t>
            </a: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DA1030C6-8DD7-6F9B-322C-DC1050BACDE1}"/>
              </a:ext>
            </a:extLst>
          </p:cNvPr>
          <p:cNvSpPr/>
          <p:nvPr/>
        </p:nvSpPr>
        <p:spPr>
          <a:xfrm rot="5400000">
            <a:off x="6630602" y="3832340"/>
            <a:ext cx="1094225" cy="257645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44467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000" b="1">
                <a:solidFill>
                  <a:srgbClr val="FFFFFF"/>
                </a:solidFill>
                <a:latin typeface="Vodafone Rg" pitchFamily="34" charset="0"/>
              </a:rPr>
              <a:t>DXL</a:t>
            </a:r>
          </a:p>
        </p:txBody>
      </p:sp>
      <p:cxnSp>
        <p:nvCxnSpPr>
          <p:cNvPr id="1129" name="Connector: Elbow 1128">
            <a:extLst>
              <a:ext uri="{FF2B5EF4-FFF2-40B4-BE49-F238E27FC236}">
                <a16:creationId xmlns:a16="http://schemas.microsoft.com/office/drawing/2014/main" id="{B1B415F0-87A2-D820-087E-CB940B9A956A}"/>
              </a:ext>
            </a:extLst>
          </p:cNvPr>
          <p:cNvCxnSpPr>
            <a:stCxn id="1103" idx="1"/>
            <a:endCxn id="1053" idx="1"/>
          </p:cNvCxnSpPr>
          <p:nvPr/>
        </p:nvCxnSpPr>
        <p:spPr>
          <a:xfrm rot="10800000" flipH="1">
            <a:off x="928574" y="2222212"/>
            <a:ext cx="147747" cy="1641442"/>
          </a:xfrm>
          <a:prstGeom prst="bentConnector3">
            <a:avLst>
              <a:gd name="adj1" fmla="val -1547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D1A1BA0F-C353-F228-0261-6EB5F2D94527}"/>
              </a:ext>
            </a:extLst>
          </p:cNvPr>
          <p:cNvSpPr/>
          <p:nvPr/>
        </p:nvSpPr>
        <p:spPr>
          <a:xfrm>
            <a:off x="4756536" y="4827973"/>
            <a:ext cx="873228" cy="138258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44467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000" b="1">
                <a:solidFill>
                  <a:srgbClr val="FFFFFF"/>
                </a:solidFill>
                <a:latin typeface="Vodafone Rg" pitchFamily="34" charset="0"/>
              </a:rPr>
              <a:t>DXL</a:t>
            </a:r>
          </a:p>
        </p:txBody>
      </p:sp>
      <p:sp>
        <p:nvSpPr>
          <p:cNvPr id="1131" name="Rectangle: Rounded Corners 1130">
            <a:extLst>
              <a:ext uri="{FF2B5EF4-FFF2-40B4-BE49-F238E27FC236}">
                <a16:creationId xmlns:a16="http://schemas.microsoft.com/office/drawing/2014/main" id="{96C46F92-E378-9801-462C-D1D930C76D9F}"/>
              </a:ext>
            </a:extLst>
          </p:cNvPr>
          <p:cNvSpPr/>
          <p:nvPr/>
        </p:nvSpPr>
        <p:spPr>
          <a:xfrm>
            <a:off x="3893482" y="4441362"/>
            <a:ext cx="1714204" cy="1339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Document Management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F955559-7217-7CF1-6D0B-A1CABCB627B2}"/>
              </a:ext>
            </a:extLst>
          </p:cNvPr>
          <p:cNvCxnSpPr>
            <a:stCxn id="1053" idx="2"/>
            <a:endCxn id="1055" idx="0"/>
          </p:cNvCxnSpPr>
          <p:nvPr/>
        </p:nvCxnSpPr>
        <p:spPr>
          <a:xfrm>
            <a:off x="1793715" y="2652929"/>
            <a:ext cx="0" cy="3701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3A7BA17-5970-B2BA-FFA7-1AA8265E59BB}"/>
              </a:ext>
            </a:extLst>
          </p:cNvPr>
          <p:cNvSpPr/>
          <p:nvPr/>
        </p:nvSpPr>
        <p:spPr>
          <a:xfrm>
            <a:off x="3326847" y="2086808"/>
            <a:ext cx="1620043" cy="268924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44467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1000" b="1">
                <a:solidFill>
                  <a:srgbClr val="FFFFFF"/>
                </a:solidFill>
                <a:latin typeface="Vodafone Rg" pitchFamily="34" charset="0"/>
              </a:rPr>
              <a:t>DXL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F79FB8-B936-289D-F9AD-C26209B5B446}"/>
              </a:ext>
            </a:extLst>
          </p:cNvPr>
          <p:cNvCxnSpPr>
            <a:cxnSpLocks/>
          </p:cNvCxnSpPr>
          <p:nvPr/>
        </p:nvCxnSpPr>
        <p:spPr>
          <a:xfrm flipV="1">
            <a:off x="5656655" y="3287025"/>
            <a:ext cx="311068" cy="117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4BC07E-CF41-C03C-8B82-9E00F60D4BC2}"/>
              </a:ext>
            </a:extLst>
          </p:cNvPr>
          <p:cNvCxnSpPr>
            <a:cxnSpLocks/>
            <a:stCxn id="3" idx="1"/>
            <a:endCxn id="1053" idx="3"/>
          </p:cNvCxnSpPr>
          <p:nvPr/>
        </p:nvCxnSpPr>
        <p:spPr>
          <a:xfrm flipH="1">
            <a:off x="2511108" y="2221270"/>
            <a:ext cx="815739" cy="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9ECE60D-58E9-0C5B-AED3-67294007E78D}"/>
              </a:ext>
            </a:extLst>
          </p:cNvPr>
          <p:cNvCxnSpPr>
            <a:cxnSpLocks/>
            <a:endCxn id="3" idx="3"/>
          </p:cNvCxnSpPr>
          <p:nvPr/>
        </p:nvCxnSpPr>
        <p:spPr>
          <a:xfrm rot="16200000" flipV="1">
            <a:off x="4924249" y="2243911"/>
            <a:ext cx="1043032" cy="9977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6">
            <a:extLst>
              <a:ext uri="{FF2B5EF4-FFF2-40B4-BE49-F238E27FC236}">
                <a16:creationId xmlns:a16="http://schemas.microsoft.com/office/drawing/2014/main" id="{7891269E-A3C3-5462-79EE-66765D78F452}"/>
              </a:ext>
            </a:extLst>
          </p:cNvPr>
          <p:cNvSpPr txBox="1"/>
          <p:nvPr/>
        </p:nvSpPr>
        <p:spPr>
          <a:xfrm>
            <a:off x="5235150" y="2038476"/>
            <a:ext cx="1147750" cy="115416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750" b="1">
                <a:solidFill>
                  <a:srgbClr val="54575A"/>
                </a:solidFill>
                <a:latin typeface="Vodafone Rg" pitchFamily="34" charset="0"/>
              </a:rPr>
              <a:t>Approval / Rejection Update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042B6FD-13D8-E586-667C-9A74CFBE821E}"/>
              </a:ext>
            </a:extLst>
          </p:cNvPr>
          <p:cNvCxnSpPr>
            <a:stCxn id="1103" idx="2"/>
            <a:endCxn id="1108" idx="1"/>
          </p:cNvCxnSpPr>
          <p:nvPr/>
        </p:nvCxnSpPr>
        <p:spPr>
          <a:xfrm rot="16200000" flipH="1">
            <a:off x="2669297" y="3067416"/>
            <a:ext cx="187279" cy="20486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64C20A8-7BEE-DF7F-8B6F-D800FEC29EBC}"/>
              </a:ext>
            </a:extLst>
          </p:cNvPr>
          <p:cNvSpPr txBox="1"/>
          <p:nvPr/>
        </p:nvSpPr>
        <p:spPr>
          <a:xfrm>
            <a:off x="2635048" y="3509314"/>
            <a:ext cx="14094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Review &amp; Approval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9C3D6A-0525-6609-F849-8A580B6AF651}"/>
              </a:ext>
            </a:extLst>
          </p:cNvPr>
          <p:cNvSpPr txBox="1"/>
          <p:nvPr/>
        </p:nvSpPr>
        <p:spPr>
          <a:xfrm>
            <a:off x="2133600" y="3977884"/>
            <a:ext cx="1696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Access SIP Assets and contract</a:t>
            </a:r>
          </a:p>
        </p:txBody>
      </p:sp>
    </p:spTree>
    <p:extLst>
      <p:ext uri="{BB962C8B-B14F-4D97-AF65-F5344CB8AC3E}">
        <p14:creationId xmlns:p14="http://schemas.microsoft.com/office/powerpoint/2010/main" val="425989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5414D-5A25-9652-9079-82152AD8C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EA14B9BE-09E1-4A99-61A6-F9233F95D2F8}"/>
              </a:ext>
            </a:extLst>
          </p:cNvPr>
          <p:cNvSpPr txBox="1"/>
          <p:nvPr/>
        </p:nvSpPr>
        <p:spPr>
          <a:xfrm>
            <a:off x="576048" y="481454"/>
            <a:ext cx="706983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>
                <a:solidFill>
                  <a:srgbClr val="FF0000"/>
                </a:solidFill>
              </a:rPr>
              <a:t>Logical &amp; Physical Data Model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F65B05B-18F4-31CA-14DC-68D2FAB8800E}"/>
              </a:ext>
            </a:extLst>
          </p:cNvPr>
          <p:cNvSpPr/>
          <p:nvPr/>
        </p:nvSpPr>
        <p:spPr>
          <a:xfrm>
            <a:off x="1114352" y="972456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Supplier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694919E-1926-D116-9484-42F628E7E5DC}"/>
              </a:ext>
            </a:extLst>
          </p:cNvPr>
          <p:cNvSpPr/>
          <p:nvPr/>
        </p:nvSpPr>
        <p:spPr>
          <a:xfrm>
            <a:off x="1114352" y="3315964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Supplier </a:t>
            </a:r>
            <a:r>
              <a:rPr lang="en-GB" sz="1400" err="1">
                <a:solidFill>
                  <a:schemeClr val="tx1"/>
                </a:solidFill>
              </a:rPr>
              <a:t>Catalog</a:t>
            </a: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9DF4B01-07D7-4B25-6E0E-CDB6F6385DE8}"/>
              </a:ext>
            </a:extLst>
          </p:cNvPr>
          <p:cNvSpPr/>
          <p:nvPr/>
        </p:nvSpPr>
        <p:spPr>
          <a:xfrm>
            <a:off x="1114351" y="4121096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 Offering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3059F62-2BD2-392D-9868-22E9B8F1CD92}"/>
              </a:ext>
            </a:extLst>
          </p:cNvPr>
          <p:cNvSpPr/>
          <p:nvPr/>
        </p:nvSpPr>
        <p:spPr>
          <a:xfrm>
            <a:off x="222954" y="4969360"/>
            <a:ext cx="1517815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 Specification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C5DF0C0-FA9D-193E-E142-08B75276109D}"/>
              </a:ext>
            </a:extLst>
          </p:cNvPr>
          <p:cNvSpPr/>
          <p:nvPr/>
        </p:nvSpPr>
        <p:spPr>
          <a:xfrm>
            <a:off x="1890727" y="4969359"/>
            <a:ext cx="1517815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GB" sz="1400">
                <a:solidFill>
                  <a:schemeClr val="tx1"/>
                </a:solidFill>
              </a:rPr>
              <a:t>Characteristic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0F45494-B4CE-4D31-C2D5-C8C0D1528734}"/>
              </a:ext>
            </a:extLst>
          </p:cNvPr>
          <p:cNvSpPr/>
          <p:nvPr/>
        </p:nvSpPr>
        <p:spPr>
          <a:xfrm>
            <a:off x="5758236" y="5673850"/>
            <a:ext cx="1517815" cy="6821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 Model </a:t>
            </a:r>
          </a:p>
          <a:p>
            <a:pPr algn="ctr"/>
            <a:r>
              <a:rPr lang="en-GB" sz="1400">
                <a:solidFill>
                  <a:schemeClr val="tx1"/>
                </a:solidFill>
              </a:rPr>
              <a:t>Characteristic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E355565-98B6-759D-D8C2-3991B48B8A74}"/>
              </a:ext>
            </a:extLst>
          </p:cNvPr>
          <p:cNvSpPr/>
          <p:nvPr/>
        </p:nvSpPr>
        <p:spPr>
          <a:xfrm>
            <a:off x="7612917" y="1921361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OPCO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CE43ABE-229D-CDFD-1AE6-F53077FF93DD}"/>
              </a:ext>
            </a:extLst>
          </p:cNvPr>
          <p:cNvSpPr/>
          <p:nvPr/>
        </p:nvSpPr>
        <p:spPr>
          <a:xfrm>
            <a:off x="4737444" y="1906982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MSA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2861796-CC23-7E9E-7C9D-0F883D9E8EB4}"/>
              </a:ext>
            </a:extLst>
          </p:cNvPr>
          <p:cNvSpPr/>
          <p:nvPr/>
        </p:nvSpPr>
        <p:spPr>
          <a:xfrm>
            <a:off x="4665557" y="2769622"/>
            <a:ext cx="1503438" cy="5383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Case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8D59C75-CE23-273D-5752-505CB9DF9770}"/>
              </a:ext>
            </a:extLst>
          </p:cNvPr>
          <p:cNvSpPr/>
          <p:nvPr/>
        </p:nvSpPr>
        <p:spPr>
          <a:xfrm>
            <a:off x="4794952" y="4149849"/>
            <a:ext cx="1244646" cy="5527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 Inventory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C7131FB-0FEA-39EA-C1CA-A7E5A0F9EBF5}"/>
              </a:ext>
            </a:extLst>
          </p:cNvPr>
          <p:cNvSpPr/>
          <p:nvPr/>
        </p:nvSpPr>
        <p:spPr>
          <a:xfrm>
            <a:off x="4737442" y="4940604"/>
            <a:ext cx="1445929" cy="5670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Inventory Characteristics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BF131BC-F525-4F72-0B36-84678F4A7CEC}"/>
              </a:ext>
            </a:extLst>
          </p:cNvPr>
          <p:cNvSpPr/>
          <p:nvPr/>
        </p:nvSpPr>
        <p:spPr>
          <a:xfrm>
            <a:off x="4104837" y="5803245"/>
            <a:ext cx="1244646" cy="5527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 Model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AFCDCB0-BC2C-D063-8C3F-9F0838A00F54}"/>
              </a:ext>
            </a:extLst>
          </p:cNvPr>
          <p:cNvSpPr/>
          <p:nvPr/>
        </p:nvSpPr>
        <p:spPr>
          <a:xfrm>
            <a:off x="7684802" y="3315962"/>
            <a:ext cx="1244646" cy="55271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Tower Site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58EF55B-4687-8AB3-2EF2-6A6B5DD2C6D5}"/>
              </a:ext>
            </a:extLst>
          </p:cNvPr>
          <p:cNvSpPr/>
          <p:nvPr/>
        </p:nvSpPr>
        <p:spPr>
          <a:xfrm>
            <a:off x="7670423" y="4897471"/>
            <a:ext cx="1244646" cy="5527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Contract</a:t>
            </a:r>
            <a:endParaRPr lang="en-US" sz="140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A56CA1C-726F-7DFD-99F8-A0CAEEDACC62}"/>
              </a:ext>
            </a:extLst>
          </p:cNvPr>
          <p:cNvSpPr/>
          <p:nvPr/>
        </p:nvSpPr>
        <p:spPr>
          <a:xfrm>
            <a:off x="9151295" y="3301587"/>
            <a:ext cx="1244646" cy="5527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0D28937-4292-153B-7B70-37FB6F29A1C8}"/>
              </a:ext>
            </a:extLst>
          </p:cNvPr>
          <p:cNvSpPr/>
          <p:nvPr/>
        </p:nvSpPr>
        <p:spPr>
          <a:xfrm>
            <a:off x="7713553" y="5673848"/>
            <a:ext cx="1273400" cy="66773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Contract Line Item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3CBE75AB-B2A4-221F-E1BE-6D97C22DF202}"/>
              </a:ext>
            </a:extLst>
          </p:cNvPr>
          <p:cNvSpPr/>
          <p:nvPr/>
        </p:nvSpPr>
        <p:spPr>
          <a:xfrm>
            <a:off x="1667855" y="1632384"/>
            <a:ext cx="97789" cy="16524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66273D0C-BFB9-9535-E88F-F8E8A155E5C5}"/>
              </a:ext>
            </a:extLst>
          </p:cNvPr>
          <p:cNvSpPr/>
          <p:nvPr/>
        </p:nvSpPr>
        <p:spPr>
          <a:xfrm>
            <a:off x="2356389" y="1225546"/>
            <a:ext cx="2990490" cy="169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362D81AB-227B-8558-B31B-B5197E402223}"/>
              </a:ext>
            </a:extLst>
          </p:cNvPr>
          <p:cNvSpPr/>
          <p:nvPr/>
        </p:nvSpPr>
        <p:spPr>
          <a:xfrm>
            <a:off x="5334080" y="1330458"/>
            <a:ext cx="140922" cy="5741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E85C4E65-E90F-79EC-A0D6-F3A4E75C07D1}"/>
              </a:ext>
            </a:extLst>
          </p:cNvPr>
          <p:cNvSpPr/>
          <p:nvPr/>
        </p:nvSpPr>
        <p:spPr>
          <a:xfrm>
            <a:off x="5334079" y="3328907"/>
            <a:ext cx="112168" cy="8329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1" name="Arrow: Down 70">
            <a:extLst>
              <a:ext uri="{FF2B5EF4-FFF2-40B4-BE49-F238E27FC236}">
                <a16:creationId xmlns:a16="http://schemas.microsoft.com/office/drawing/2014/main" id="{F4AB294D-9D69-7451-0904-7AF843622C89}"/>
              </a:ext>
            </a:extLst>
          </p:cNvPr>
          <p:cNvSpPr/>
          <p:nvPr/>
        </p:nvSpPr>
        <p:spPr>
          <a:xfrm flipH="1">
            <a:off x="8264207" y="2480646"/>
            <a:ext cx="132247" cy="8473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042C6D61-4CF0-0318-3017-C63BEC3AA58D}"/>
              </a:ext>
            </a:extLst>
          </p:cNvPr>
          <p:cNvSpPr/>
          <p:nvPr/>
        </p:nvSpPr>
        <p:spPr>
          <a:xfrm flipV="1">
            <a:off x="2356387" y="3430390"/>
            <a:ext cx="5269475" cy="955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CD0611FD-011D-0B61-D010-73523CBA5CBE}"/>
              </a:ext>
            </a:extLst>
          </p:cNvPr>
          <p:cNvSpPr/>
          <p:nvPr/>
        </p:nvSpPr>
        <p:spPr>
          <a:xfrm>
            <a:off x="9093785" y="1921360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Country</a:t>
            </a: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861EBB4E-8306-0EC9-32BC-CE0FCBB35C40}"/>
              </a:ext>
            </a:extLst>
          </p:cNvPr>
          <p:cNvSpPr/>
          <p:nvPr/>
        </p:nvSpPr>
        <p:spPr>
          <a:xfrm>
            <a:off x="5348458" y="4680384"/>
            <a:ext cx="140921" cy="2578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9" name="Arrow: Down 78">
            <a:extLst>
              <a:ext uri="{FF2B5EF4-FFF2-40B4-BE49-F238E27FC236}">
                <a16:creationId xmlns:a16="http://schemas.microsoft.com/office/drawing/2014/main" id="{B363B799-1E9C-4D1A-8FD1-5F29AC4A5DE8}"/>
              </a:ext>
            </a:extLst>
          </p:cNvPr>
          <p:cNvSpPr/>
          <p:nvPr/>
        </p:nvSpPr>
        <p:spPr>
          <a:xfrm>
            <a:off x="4457059" y="4421587"/>
            <a:ext cx="83414" cy="1379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0" name="Arrow: Left 79">
            <a:extLst>
              <a:ext uri="{FF2B5EF4-FFF2-40B4-BE49-F238E27FC236}">
                <a16:creationId xmlns:a16="http://schemas.microsoft.com/office/drawing/2014/main" id="{F7559294-2F13-A34A-4104-B4FDB72896AB}"/>
              </a:ext>
            </a:extLst>
          </p:cNvPr>
          <p:cNvSpPr/>
          <p:nvPr/>
        </p:nvSpPr>
        <p:spPr>
          <a:xfrm>
            <a:off x="4549154" y="4333070"/>
            <a:ext cx="160645" cy="16789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542F1D5D-FB7D-9EE3-4D0F-B37FE2EE6F1A}"/>
              </a:ext>
            </a:extLst>
          </p:cNvPr>
          <p:cNvSpPr/>
          <p:nvPr/>
        </p:nvSpPr>
        <p:spPr>
          <a:xfrm flipV="1">
            <a:off x="5346878" y="6018314"/>
            <a:ext cx="409929" cy="811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2" name="Arrow: Down 81">
            <a:extLst>
              <a:ext uri="{FF2B5EF4-FFF2-40B4-BE49-F238E27FC236}">
                <a16:creationId xmlns:a16="http://schemas.microsoft.com/office/drawing/2014/main" id="{05F78EE8-F495-133E-0BA3-104F1D22AA13}"/>
              </a:ext>
            </a:extLst>
          </p:cNvPr>
          <p:cNvSpPr/>
          <p:nvPr/>
        </p:nvSpPr>
        <p:spPr>
          <a:xfrm>
            <a:off x="1653477" y="3875251"/>
            <a:ext cx="126543" cy="2865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3" name="Arrow: Down 82">
            <a:extLst>
              <a:ext uri="{FF2B5EF4-FFF2-40B4-BE49-F238E27FC236}">
                <a16:creationId xmlns:a16="http://schemas.microsoft.com/office/drawing/2014/main" id="{0EDBF60E-02C4-8CA8-0B8D-CBA2E733472D}"/>
              </a:ext>
            </a:extLst>
          </p:cNvPr>
          <p:cNvSpPr/>
          <p:nvPr/>
        </p:nvSpPr>
        <p:spPr>
          <a:xfrm>
            <a:off x="1365929" y="4694759"/>
            <a:ext cx="212807" cy="24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4" name="Arrow: Down 83">
            <a:extLst>
              <a:ext uri="{FF2B5EF4-FFF2-40B4-BE49-F238E27FC236}">
                <a16:creationId xmlns:a16="http://schemas.microsoft.com/office/drawing/2014/main" id="{1D06116F-9DA5-FD57-69E1-634F651C96D4}"/>
              </a:ext>
            </a:extLst>
          </p:cNvPr>
          <p:cNvSpPr/>
          <p:nvPr/>
        </p:nvSpPr>
        <p:spPr>
          <a:xfrm>
            <a:off x="1926645" y="4694758"/>
            <a:ext cx="212807" cy="24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8" name="Arrow: Left 87">
            <a:extLst>
              <a:ext uri="{FF2B5EF4-FFF2-40B4-BE49-F238E27FC236}">
                <a16:creationId xmlns:a16="http://schemas.microsoft.com/office/drawing/2014/main" id="{C1C629C3-E7E3-BDA0-1134-7344B86F7604}"/>
              </a:ext>
            </a:extLst>
          </p:cNvPr>
          <p:cNvSpPr/>
          <p:nvPr/>
        </p:nvSpPr>
        <p:spPr>
          <a:xfrm>
            <a:off x="8919873" y="3585447"/>
            <a:ext cx="203776" cy="11038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9" name="Arrow: Down 88">
            <a:extLst>
              <a:ext uri="{FF2B5EF4-FFF2-40B4-BE49-F238E27FC236}">
                <a16:creationId xmlns:a16="http://schemas.microsoft.com/office/drawing/2014/main" id="{5419977B-A59E-3CD3-04AA-DCE6C4F612E4}"/>
              </a:ext>
            </a:extLst>
          </p:cNvPr>
          <p:cNvSpPr/>
          <p:nvPr/>
        </p:nvSpPr>
        <p:spPr>
          <a:xfrm flipH="1">
            <a:off x="8264206" y="3860873"/>
            <a:ext cx="117870" cy="10342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0" name="Arrow: Down 89">
            <a:extLst>
              <a:ext uri="{FF2B5EF4-FFF2-40B4-BE49-F238E27FC236}">
                <a16:creationId xmlns:a16="http://schemas.microsoft.com/office/drawing/2014/main" id="{890A415E-71A8-8360-7AF6-E5F50C22BC58}"/>
              </a:ext>
            </a:extLst>
          </p:cNvPr>
          <p:cNvSpPr/>
          <p:nvPr/>
        </p:nvSpPr>
        <p:spPr>
          <a:xfrm flipH="1">
            <a:off x="8264205" y="5514268"/>
            <a:ext cx="103493" cy="1284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2" name="Arrow: Down 91">
            <a:extLst>
              <a:ext uri="{FF2B5EF4-FFF2-40B4-BE49-F238E27FC236}">
                <a16:creationId xmlns:a16="http://schemas.microsoft.com/office/drawing/2014/main" id="{AE7BF022-A8FF-F526-25AE-A414B1488959}"/>
              </a:ext>
            </a:extLst>
          </p:cNvPr>
          <p:cNvSpPr/>
          <p:nvPr/>
        </p:nvSpPr>
        <p:spPr>
          <a:xfrm flipH="1">
            <a:off x="9701942" y="2480645"/>
            <a:ext cx="117870" cy="8473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3" name="Arrow: Left 92">
            <a:extLst>
              <a:ext uri="{FF2B5EF4-FFF2-40B4-BE49-F238E27FC236}">
                <a16:creationId xmlns:a16="http://schemas.microsoft.com/office/drawing/2014/main" id="{EF1C06B6-6C10-9A96-8962-0A454F99DF3B}"/>
              </a:ext>
            </a:extLst>
          </p:cNvPr>
          <p:cNvSpPr/>
          <p:nvPr/>
        </p:nvSpPr>
        <p:spPr>
          <a:xfrm>
            <a:off x="5986890" y="2162087"/>
            <a:ext cx="1612757" cy="9600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4" name="Arrow: Down 93">
            <a:extLst>
              <a:ext uri="{FF2B5EF4-FFF2-40B4-BE49-F238E27FC236}">
                <a16:creationId xmlns:a16="http://schemas.microsoft.com/office/drawing/2014/main" id="{0AC6923A-AC64-C734-E8A3-552759293B74}"/>
              </a:ext>
            </a:extLst>
          </p:cNvPr>
          <p:cNvSpPr/>
          <p:nvPr/>
        </p:nvSpPr>
        <p:spPr>
          <a:xfrm>
            <a:off x="5334078" y="2480647"/>
            <a:ext cx="126545" cy="3009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A47AA022-5680-1639-734F-AF85CA95EA3D}"/>
              </a:ext>
            </a:extLst>
          </p:cNvPr>
          <p:cNvSpPr/>
          <p:nvPr/>
        </p:nvSpPr>
        <p:spPr>
          <a:xfrm flipV="1">
            <a:off x="3420311" y="5155673"/>
            <a:ext cx="1258192" cy="955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6" name="Arrow: Right 95">
            <a:extLst>
              <a:ext uri="{FF2B5EF4-FFF2-40B4-BE49-F238E27FC236}">
                <a16:creationId xmlns:a16="http://schemas.microsoft.com/office/drawing/2014/main" id="{E71E54D3-0CC7-2319-74CE-59036F704702}"/>
              </a:ext>
            </a:extLst>
          </p:cNvPr>
          <p:cNvSpPr/>
          <p:nvPr/>
        </p:nvSpPr>
        <p:spPr>
          <a:xfrm flipV="1">
            <a:off x="1076801" y="6090200"/>
            <a:ext cx="2969097" cy="811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9" name="Arrow: Down 98">
            <a:extLst>
              <a:ext uri="{FF2B5EF4-FFF2-40B4-BE49-F238E27FC236}">
                <a16:creationId xmlns:a16="http://schemas.microsoft.com/office/drawing/2014/main" id="{BD7B4BE7-16AA-4EE1-7515-D3E9A579D1FE}"/>
              </a:ext>
            </a:extLst>
          </p:cNvPr>
          <p:cNvSpPr/>
          <p:nvPr/>
        </p:nvSpPr>
        <p:spPr>
          <a:xfrm flipH="1">
            <a:off x="974884" y="5499891"/>
            <a:ext cx="89116" cy="6747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C9D825A5-59B9-57B2-C6B2-A540F55E8F78}"/>
              </a:ext>
            </a:extLst>
          </p:cNvPr>
          <p:cNvSpPr/>
          <p:nvPr/>
        </p:nvSpPr>
        <p:spPr>
          <a:xfrm flipV="1">
            <a:off x="7273443" y="6003936"/>
            <a:ext cx="409928" cy="109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2AF6844E-DC0D-B001-FF95-9D6DA46A2086}"/>
              </a:ext>
            </a:extLst>
          </p:cNvPr>
          <p:cNvSpPr/>
          <p:nvPr/>
        </p:nvSpPr>
        <p:spPr>
          <a:xfrm>
            <a:off x="6180764" y="5164943"/>
            <a:ext cx="1445097" cy="91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03" name="Arrow: Down 102">
            <a:extLst>
              <a:ext uri="{FF2B5EF4-FFF2-40B4-BE49-F238E27FC236}">
                <a16:creationId xmlns:a16="http://schemas.microsoft.com/office/drawing/2014/main" id="{7330F48A-009C-A2AC-683D-D6D366EF3C78}"/>
              </a:ext>
            </a:extLst>
          </p:cNvPr>
          <p:cNvSpPr/>
          <p:nvPr/>
        </p:nvSpPr>
        <p:spPr>
          <a:xfrm rot="10800000" flipH="1">
            <a:off x="6668321" y="3645213"/>
            <a:ext cx="74737" cy="15805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68F6FDBB-DA81-0811-6DDB-9B7D1068DFAE}"/>
              </a:ext>
            </a:extLst>
          </p:cNvPr>
          <p:cNvSpPr/>
          <p:nvPr/>
        </p:nvSpPr>
        <p:spPr>
          <a:xfrm flipV="1">
            <a:off x="6741480" y="3574163"/>
            <a:ext cx="884382" cy="109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B352E6-65EE-261F-193A-6C003FE93A20}"/>
              </a:ext>
            </a:extLst>
          </p:cNvPr>
          <p:cNvSpPr/>
          <p:nvPr/>
        </p:nvSpPr>
        <p:spPr>
          <a:xfrm>
            <a:off x="8456137" y="3181003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VSG-7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A45B76-7E5E-2D08-8CFB-7E6F8C022C02}"/>
              </a:ext>
            </a:extLst>
          </p:cNvPr>
          <p:cNvSpPr/>
          <p:nvPr/>
        </p:nvSpPr>
        <p:spPr>
          <a:xfrm>
            <a:off x="8456136" y="4820021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0B4CBF-FF75-6899-4314-43DCF59D0192}"/>
              </a:ext>
            </a:extLst>
          </p:cNvPr>
          <p:cNvSpPr/>
          <p:nvPr/>
        </p:nvSpPr>
        <p:spPr>
          <a:xfrm>
            <a:off x="8456135" y="5553266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B23FB9-4430-CE6A-26D9-36B007BB6B54}"/>
              </a:ext>
            </a:extLst>
          </p:cNvPr>
          <p:cNvSpPr/>
          <p:nvPr/>
        </p:nvSpPr>
        <p:spPr>
          <a:xfrm>
            <a:off x="10018489" y="3162178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2A2F2F-B0E7-26A6-86AF-F824630CF5C9}"/>
              </a:ext>
            </a:extLst>
          </p:cNvPr>
          <p:cNvSpPr/>
          <p:nvPr/>
        </p:nvSpPr>
        <p:spPr>
          <a:xfrm>
            <a:off x="9807607" y="1800775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DD328D-6F94-1608-313E-996A72EF60D6}"/>
              </a:ext>
            </a:extLst>
          </p:cNvPr>
          <p:cNvSpPr/>
          <p:nvPr/>
        </p:nvSpPr>
        <p:spPr>
          <a:xfrm>
            <a:off x="2638349" y="3704150"/>
            <a:ext cx="1503438" cy="5383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Approval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C63791-B1DA-2F7F-5011-C543D6D8F2E5}"/>
              </a:ext>
            </a:extLst>
          </p:cNvPr>
          <p:cNvSpPr/>
          <p:nvPr/>
        </p:nvSpPr>
        <p:spPr>
          <a:xfrm>
            <a:off x="3474890" y="1904597"/>
            <a:ext cx="1198859" cy="4501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Data Stewardship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89843DA-2AE8-B626-C8EC-289E55927900}"/>
              </a:ext>
            </a:extLst>
          </p:cNvPr>
          <p:cNvSpPr/>
          <p:nvPr/>
        </p:nvSpPr>
        <p:spPr>
          <a:xfrm rot="10800000" flipH="1">
            <a:off x="3495880" y="3100017"/>
            <a:ext cx="74736" cy="6028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A6A754C-5328-A8DF-2713-6124A4D9BAAE}"/>
              </a:ext>
            </a:extLst>
          </p:cNvPr>
          <p:cNvSpPr/>
          <p:nvPr/>
        </p:nvSpPr>
        <p:spPr>
          <a:xfrm flipV="1">
            <a:off x="3511056" y="3128464"/>
            <a:ext cx="1124314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EAC8C77-74E3-F7A4-712F-7E340427DF1A}"/>
              </a:ext>
            </a:extLst>
          </p:cNvPr>
          <p:cNvSpPr/>
          <p:nvPr/>
        </p:nvSpPr>
        <p:spPr>
          <a:xfrm>
            <a:off x="3391555" y="2893319"/>
            <a:ext cx="1243814" cy="91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C99E6BE-1988-16B3-9843-3C6D1405DA62}"/>
              </a:ext>
            </a:extLst>
          </p:cNvPr>
          <p:cNvSpPr/>
          <p:nvPr/>
        </p:nvSpPr>
        <p:spPr>
          <a:xfrm flipH="1">
            <a:off x="4040142" y="2385623"/>
            <a:ext cx="89116" cy="5166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A59B3DE-3761-5A1C-E882-0ADAE62B79E3}"/>
              </a:ext>
            </a:extLst>
          </p:cNvPr>
          <p:cNvSpPr/>
          <p:nvPr/>
        </p:nvSpPr>
        <p:spPr>
          <a:xfrm>
            <a:off x="7727931" y="6522112"/>
            <a:ext cx="1302154" cy="2076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REFX Contract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DAB47B5E-0628-9CAE-D174-B277144AC010}"/>
              </a:ext>
            </a:extLst>
          </p:cNvPr>
          <p:cNvSpPr/>
          <p:nvPr/>
        </p:nvSpPr>
        <p:spPr>
          <a:xfrm flipH="1">
            <a:off x="8307336" y="6348155"/>
            <a:ext cx="103493" cy="1284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177C723E-382B-A5DB-1B8F-3684DD341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698" y="-88408"/>
            <a:ext cx="32216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u="sng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                                                                  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Data Model.xlsx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F5AEDD8-98CA-9A79-41D6-F9C616364E9A}"/>
              </a:ext>
            </a:extLst>
          </p:cNvPr>
          <p:cNvSpPr/>
          <p:nvPr/>
        </p:nvSpPr>
        <p:spPr>
          <a:xfrm>
            <a:off x="9378846" y="4911848"/>
            <a:ext cx="1503438" cy="5383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Site Contract PDF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527169-EAB2-8398-C462-314F18EA800D}"/>
              </a:ext>
            </a:extLst>
          </p:cNvPr>
          <p:cNvSpPr/>
          <p:nvPr/>
        </p:nvSpPr>
        <p:spPr>
          <a:xfrm>
            <a:off x="2060171" y="862761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126155-11C0-58BC-21FB-965E225B5633}"/>
              </a:ext>
            </a:extLst>
          </p:cNvPr>
          <p:cNvSpPr/>
          <p:nvPr/>
        </p:nvSpPr>
        <p:spPr>
          <a:xfrm>
            <a:off x="2025534" y="3183397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BA7B6C5-258E-E8A7-68EC-94B5BF4B6BAD}"/>
              </a:ext>
            </a:extLst>
          </p:cNvPr>
          <p:cNvSpPr/>
          <p:nvPr/>
        </p:nvSpPr>
        <p:spPr>
          <a:xfrm>
            <a:off x="1979352" y="4014669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4B7C697-8306-7094-4CBD-7468D6879E9B}"/>
              </a:ext>
            </a:extLst>
          </p:cNvPr>
          <p:cNvSpPr/>
          <p:nvPr/>
        </p:nvSpPr>
        <p:spPr>
          <a:xfrm>
            <a:off x="1309716" y="4892124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3FBA88D-88BE-773C-5A4C-83EDB6CE1639}"/>
              </a:ext>
            </a:extLst>
          </p:cNvPr>
          <p:cNvSpPr/>
          <p:nvPr/>
        </p:nvSpPr>
        <p:spPr>
          <a:xfrm>
            <a:off x="3041534" y="4857487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BCF2E2D-2005-7318-1C2A-0E32C1861F8C}"/>
              </a:ext>
            </a:extLst>
          </p:cNvPr>
          <p:cNvSpPr/>
          <p:nvPr/>
        </p:nvSpPr>
        <p:spPr>
          <a:xfrm>
            <a:off x="8346157" y="1791802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FFC396E9-012A-A4A0-C777-F3B8E8D76953}"/>
              </a:ext>
            </a:extLst>
          </p:cNvPr>
          <p:cNvSpPr/>
          <p:nvPr/>
        </p:nvSpPr>
        <p:spPr>
          <a:xfrm>
            <a:off x="8929447" y="5141243"/>
            <a:ext cx="399609" cy="12447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19F7F95-15B8-2433-66B9-E22AF65F5D8B}"/>
              </a:ext>
            </a:extLst>
          </p:cNvPr>
          <p:cNvSpPr/>
          <p:nvPr/>
        </p:nvSpPr>
        <p:spPr>
          <a:xfrm>
            <a:off x="10338431" y="344923"/>
            <a:ext cx="1661589" cy="642667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Only to support VSG-6, VSG-7,VSG-8, VSG-9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6035E2E-5738-051C-E3CD-F779ADEFF2FA}"/>
              </a:ext>
            </a:extLst>
          </p:cNvPr>
          <p:cNvSpPr/>
          <p:nvPr/>
        </p:nvSpPr>
        <p:spPr>
          <a:xfrm>
            <a:off x="3884977" y="3587517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VSG-16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F163610-F204-C0CC-80CA-F976F8D0BC2A}"/>
              </a:ext>
            </a:extLst>
          </p:cNvPr>
          <p:cNvSpPr/>
          <p:nvPr/>
        </p:nvSpPr>
        <p:spPr>
          <a:xfrm>
            <a:off x="5857470" y="2695445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VSG-9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968EF87-6D31-603C-E75F-E46747545297}"/>
              </a:ext>
            </a:extLst>
          </p:cNvPr>
          <p:cNvSpPr/>
          <p:nvPr/>
        </p:nvSpPr>
        <p:spPr>
          <a:xfrm>
            <a:off x="5708403" y="4042236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VSG-7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E778C3B-CA28-A345-2E27-A93791388DE1}"/>
              </a:ext>
            </a:extLst>
          </p:cNvPr>
          <p:cNvSpPr/>
          <p:nvPr/>
        </p:nvSpPr>
        <p:spPr>
          <a:xfrm>
            <a:off x="5795822" y="4788832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VSG-7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0CD4D0D-85E6-F873-98C2-FD961AC6DB91}"/>
              </a:ext>
            </a:extLst>
          </p:cNvPr>
          <p:cNvSpPr/>
          <p:nvPr/>
        </p:nvSpPr>
        <p:spPr>
          <a:xfrm>
            <a:off x="4926516" y="5696306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0AD8B07-72C8-7F98-C2B3-AA235B00EC65}"/>
              </a:ext>
            </a:extLst>
          </p:cNvPr>
          <p:cNvSpPr/>
          <p:nvPr/>
        </p:nvSpPr>
        <p:spPr>
          <a:xfrm>
            <a:off x="6876566" y="5534033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987A256-2A1A-39DA-0288-BD59FA2BB27C}"/>
              </a:ext>
            </a:extLst>
          </p:cNvPr>
          <p:cNvSpPr/>
          <p:nvPr/>
        </p:nvSpPr>
        <p:spPr>
          <a:xfrm>
            <a:off x="10541615" y="4800829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33C377F-8818-A82D-9F6D-8A60480BC8C5}"/>
              </a:ext>
            </a:extLst>
          </p:cNvPr>
          <p:cNvSpPr/>
          <p:nvPr/>
        </p:nvSpPr>
        <p:spPr>
          <a:xfrm>
            <a:off x="8809934" y="6372721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VSG-20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7DB6D5A-44DC-DE4B-AD75-9C522199D72B}"/>
              </a:ext>
            </a:extLst>
          </p:cNvPr>
          <p:cNvSpPr/>
          <p:nvPr/>
        </p:nvSpPr>
        <p:spPr>
          <a:xfrm>
            <a:off x="1988785" y="2648978"/>
            <a:ext cx="1299130" cy="479487"/>
          </a:xfrm>
          <a:prstGeom prst="roundRect">
            <a:avLst>
              <a:gd name="adj" fmla="val 2273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Opco Attributes</a:t>
            </a:r>
          </a:p>
        </p:txBody>
      </p:sp>
    </p:spTree>
    <p:extLst>
      <p:ext uri="{BB962C8B-B14F-4D97-AF65-F5344CB8AC3E}">
        <p14:creationId xmlns:p14="http://schemas.microsoft.com/office/powerpoint/2010/main" val="896224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1159-B2DC-B51A-3681-36107DB94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39" y="-174161"/>
            <a:ext cx="10515600" cy="1325563"/>
          </a:xfrm>
        </p:spPr>
        <p:txBody>
          <a:bodyPr>
            <a:normAutofit/>
          </a:bodyPr>
          <a:lstStyle/>
          <a:p>
            <a:r>
              <a:rPr lang="en-GB" sz="2500">
                <a:solidFill>
                  <a:srgbClr val="FF0000"/>
                </a:solidFill>
              </a:rPr>
              <a:t>Integration Details – Vantage to SIP Site Agreement Submission(New Provide, Modify, Aggregation)</a:t>
            </a:r>
            <a:br>
              <a:rPr lang="en-GB" sz="2500">
                <a:solidFill>
                  <a:srgbClr val="FF0000"/>
                </a:solidFill>
              </a:rPr>
            </a:br>
            <a:endParaRPr lang="en-GB" sz="250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B0BEF2-A759-A628-FF43-4D23683ACCF9}"/>
              </a:ext>
            </a:extLst>
          </p:cNvPr>
          <p:cNvSpPr/>
          <p:nvPr/>
        </p:nvSpPr>
        <p:spPr>
          <a:xfrm>
            <a:off x="824127" y="907909"/>
            <a:ext cx="1075556" cy="269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Vantage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6AC28F-F6D6-2CB1-7D9A-9E49AE41303E}"/>
              </a:ext>
            </a:extLst>
          </p:cNvPr>
          <p:cNvSpPr/>
          <p:nvPr/>
        </p:nvSpPr>
        <p:spPr>
          <a:xfrm>
            <a:off x="4763665" y="907909"/>
            <a:ext cx="1238588" cy="269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DXL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00F6DA-0212-A4A5-5AEB-BFA4FAF96175}"/>
              </a:ext>
            </a:extLst>
          </p:cNvPr>
          <p:cNvSpPr/>
          <p:nvPr/>
        </p:nvSpPr>
        <p:spPr>
          <a:xfrm>
            <a:off x="8810666" y="863588"/>
            <a:ext cx="1238588" cy="2552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SIP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9B7EBF-4A69-4233-B34B-41461612DD6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361905" y="1177079"/>
            <a:ext cx="0" cy="5415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19655A-15BB-DE95-DF67-4B72A65A5329}"/>
              </a:ext>
            </a:extLst>
          </p:cNvPr>
          <p:cNvCxnSpPr>
            <a:cxnSpLocks/>
          </p:cNvCxnSpPr>
          <p:nvPr/>
        </p:nvCxnSpPr>
        <p:spPr>
          <a:xfrm>
            <a:off x="5398073" y="1177078"/>
            <a:ext cx="0" cy="5415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B39BDE2-0487-3DE4-33D4-6BFFCE1455BB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9429960" y="1118880"/>
            <a:ext cx="0" cy="55296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6FC7A1-36F1-0B74-A621-D1D4E203E024}"/>
              </a:ext>
            </a:extLst>
          </p:cNvPr>
          <p:cNvCxnSpPr>
            <a:cxnSpLocks/>
          </p:cNvCxnSpPr>
          <p:nvPr/>
        </p:nvCxnSpPr>
        <p:spPr>
          <a:xfrm>
            <a:off x="1377019" y="1582889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3EBD07C-1D15-AD6B-55F0-1AA2EDBB3952}"/>
              </a:ext>
            </a:extLst>
          </p:cNvPr>
          <p:cNvSpPr txBox="1"/>
          <p:nvPr/>
        </p:nvSpPr>
        <p:spPr>
          <a:xfrm>
            <a:off x="1842170" y="1291606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HTTPS GET call for the auth token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0AE787-E09F-C0AE-4536-D248CE09CFEB}"/>
              </a:ext>
            </a:extLst>
          </p:cNvPr>
          <p:cNvCxnSpPr/>
          <p:nvPr/>
        </p:nvCxnSpPr>
        <p:spPr>
          <a:xfrm flipH="1">
            <a:off x="1361905" y="1796143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011C4E8-9AC3-3F4B-D788-3CE989867A54}"/>
              </a:ext>
            </a:extLst>
          </p:cNvPr>
          <p:cNvSpPr txBox="1"/>
          <p:nvPr/>
        </p:nvSpPr>
        <p:spPr>
          <a:xfrm>
            <a:off x="1867871" y="1560665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Auth Token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C2A35B-F9B7-80EC-A711-850AEE5F55FD}"/>
              </a:ext>
            </a:extLst>
          </p:cNvPr>
          <p:cNvCxnSpPr>
            <a:cxnSpLocks/>
          </p:cNvCxnSpPr>
          <p:nvPr/>
        </p:nvCxnSpPr>
        <p:spPr>
          <a:xfrm>
            <a:off x="1377019" y="2050974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576D3DD-A87D-BB89-2B89-15082110E006}"/>
              </a:ext>
            </a:extLst>
          </p:cNvPr>
          <p:cNvSpPr txBox="1"/>
          <p:nvPr/>
        </p:nvSpPr>
        <p:spPr>
          <a:xfrm>
            <a:off x="1852757" y="1803545"/>
            <a:ext cx="2784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HTTPS POST call to create Site contract in SIP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FA0BCB6-3B3A-CFDF-3E15-4641F451E404}"/>
              </a:ext>
            </a:extLst>
          </p:cNvPr>
          <p:cNvCxnSpPr>
            <a:cxnSpLocks/>
          </p:cNvCxnSpPr>
          <p:nvPr/>
        </p:nvCxnSpPr>
        <p:spPr>
          <a:xfrm>
            <a:off x="5398073" y="2166257"/>
            <a:ext cx="4910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399F75-6AB9-C3A0-0C4A-8E1F93DED976}"/>
              </a:ext>
            </a:extLst>
          </p:cNvPr>
          <p:cNvCxnSpPr/>
          <p:nvPr/>
        </p:nvCxnSpPr>
        <p:spPr>
          <a:xfrm>
            <a:off x="5889171" y="2166257"/>
            <a:ext cx="0" cy="1741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8CD0191-6A27-AEB7-A21F-8F24F2DE7850}"/>
              </a:ext>
            </a:extLst>
          </p:cNvPr>
          <p:cNvCxnSpPr/>
          <p:nvPr/>
        </p:nvCxnSpPr>
        <p:spPr>
          <a:xfrm flipH="1">
            <a:off x="5398073" y="2340429"/>
            <a:ext cx="491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45620D6-D412-95F7-6733-A1B42DCD8CE4}"/>
              </a:ext>
            </a:extLst>
          </p:cNvPr>
          <p:cNvSpPr txBox="1"/>
          <p:nvPr/>
        </p:nvSpPr>
        <p:spPr>
          <a:xfrm>
            <a:off x="5442804" y="1920035"/>
            <a:ext cx="1995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Validate and authenticate client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CF9E99A-AF40-7375-4AE6-E920D8CD0F43}"/>
              </a:ext>
            </a:extLst>
          </p:cNvPr>
          <p:cNvCxnSpPr>
            <a:cxnSpLocks/>
          </p:cNvCxnSpPr>
          <p:nvPr/>
        </p:nvCxnSpPr>
        <p:spPr>
          <a:xfrm>
            <a:off x="5424020" y="2524755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40A5B4D-C66A-C1B4-F75A-61F7AA8945F9}"/>
              </a:ext>
            </a:extLst>
          </p:cNvPr>
          <p:cNvSpPr txBox="1"/>
          <p:nvPr/>
        </p:nvSpPr>
        <p:spPr>
          <a:xfrm>
            <a:off x="5889171" y="2233472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HTTPS GET call for the auth token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A5A715-878C-2FA8-D7F3-0AD63A604F3F}"/>
              </a:ext>
            </a:extLst>
          </p:cNvPr>
          <p:cNvCxnSpPr/>
          <p:nvPr/>
        </p:nvCxnSpPr>
        <p:spPr>
          <a:xfrm flipH="1">
            <a:off x="5408906" y="2738009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526498B-6942-E461-879D-F6EE2DA87A7C}"/>
              </a:ext>
            </a:extLst>
          </p:cNvPr>
          <p:cNvSpPr txBox="1"/>
          <p:nvPr/>
        </p:nvSpPr>
        <p:spPr>
          <a:xfrm>
            <a:off x="5914872" y="2502531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Auth Token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27544DD-3423-2FE0-DBAF-D4EB27D9E3CF}"/>
              </a:ext>
            </a:extLst>
          </p:cNvPr>
          <p:cNvCxnSpPr>
            <a:cxnSpLocks/>
          </p:cNvCxnSpPr>
          <p:nvPr/>
        </p:nvCxnSpPr>
        <p:spPr>
          <a:xfrm>
            <a:off x="5424020" y="2992840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91FC14D-9FAD-5578-3021-D6AC87B92FF8}"/>
              </a:ext>
            </a:extLst>
          </p:cNvPr>
          <p:cNvSpPr txBox="1"/>
          <p:nvPr/>
        </p:nvSpPr>
        <p:spPr>
          <a:xfrm>
            <a:off x="5899758" y="2745411"/>
            <a:ext cx="32333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HTTPS POST call to create Site contract request in SIP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686AAFF-AA10-AC4D-934A-EC28A10F5CAB}"/>
              </a:ext>
            </a:extLst>
          </p:cNvPr>
          <p:cNvSpPr/>
          <p:nvPr/>
        </p:nvSpPr>
        <p:spPr>
          <a:xfrm>
            <a:off x="883972" y="6567693"/>
            <a:ext cx="1075556" cy="269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Vantage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6CF5AC6-119A-D93D-B020-E35D33A44561}"/>
              </a:ext>
            </a:extLst>
          </p:cNvPr>
          <p:cNvSpPr/>
          <p:nvPr/>
        </p:nvSpPr>
        <p:spPr>
          <a:xfrm>
            <a:off x="4823510" y="6567693"/>
            <a:ext cx="1238588" cy="269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DXL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9EDBDDF-EAA0-1C5E-6810-F684DE32F162}"/>
              </a:ext>
            </a:extLst>
          </p:cNvPr>
          <p:cNvSpPr/>
          <p:nvPr/>
        </p:nvSpPr>
        <p:spPr>
          <a:xfrm>
            <a:off x="8870511" y="6523372"/>
            <a:ext cx="1238588" cy="2552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SIP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421120D-80E8-5B36-030F-D9C853003D3D}"/>
              </a:ext>
            </a:extLst>
          </p:cNvPr>
          <p:cNvCxnSpPr>
            <a:cxnSpLocks/>
          </p:cNvCxnSpPr>
          <p:nvPr/>
        </p:nvCxnSpPr>
        <p:spPr>
          <a:xfrm>
            <a:off x="9429960" y="3145972"/>
            <a:ext cx="4910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3FFBC0B-B662-2FCD-7F20-A50CC3E96876}"/>
              </a:ext>
            </a:extLst>
          </p:cNvPr>
          <p:cNvCxnSpPr/>
          <p:nvPr/>
        </p:nvCxnSpPr>
        <p:spPr>
          <a:xfrm>
            <a:off x="9921058" y="3145972"/>
            <a:ext cx="0" cy="1741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D2EB36C-6239-2690-4251-DC76D212E9AF}"/>
              </a:ext>
            </a:extLst>
          </p:cNvPr>
          <p:cNvCxnSpPr/>
          <p:nvPr/>
        </p:nvCxnSpPr>
        <p:spPr>
          <a:xfrm flipH="1">
            <a:off x="9429960" y="3320144"/>
            <a:ext cx="491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BE8805A-B4F6-9626-61C4-5A0045AB488E}"/>
              </a:ext>
            </a:extLst>
          </p:cNvPr>
          <p:cNvSpPr txBox="1"/>
          <p:nvPr/>
        </p:nvSpPr>
        <p:spPr>
          <a:xfrm>
            <a:off x="9572465" y="2883558"/>
            <a:ext cx="1995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Validate and authenticate client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F0149E5-2DC4-266A-E46F-F90FBE0AAC21}"/>
              </a:ext>
            </a:extLst>
          </p:cNvPr>
          <p:cNvCxnSpPr>
            <a:cxnSpLocks/>
          </p:cNvCxnSpPr>
          <p:nvPr/>
        </p:nvCxnSpPr>
        <p:spPr>
          <a:xfrm>
            <a:off x="9445074" y="3535886"/>
            <a:ext cx="4910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C4C471F-C3A6-EB69-6072-1770E98E3D29}"/>
              </a:ext>
            </a:extLst>
          </p:cNvPr>
          <p:cNvCxnSpPr/>
          <p:nvPr/>
        </p:nvCxnSpPr>
        <p:spPr>
          <a:xfrm>
            <a:off x="9936172" y="3535886"/>
            <a:ext cx="0" cy="1741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EAB21D0-9249-7317-5C01-9D1050CDE531}"/>
              </a:ext>
            </a:extLst>
          </p:cNvPr>
          <p:cNvCxnSpPr/>
          <p:nvPr/>
        </p:nvCxnSpPr>
        <p:spPr>
          <a:xfrm flipH="1">
            <a:off x="9445074" y="3710058"/>
            <a:ext cx="491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C5EBD41-A25F-D5A2-511F-90AAC025AB99}"/>
              </a:ext>
            </a:extLst>
          </p:cNvPr>
          <p:cNvSpPr txBox="1"/>
          <p:nvPr/>
        </p:nvSpPr>
        <p:spPr>
          <a:xfrm>
            <a:off x="9951285" y="3391990"/>
            <a:ext cx="19953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Success in processing request</a:t>
            </a:r>
          </a:p>
          <a:p>
            <a:r>
              <a:rPr lang="en-GB" sz="1000"/>
              <a:t>Request : Created, Attachment : Available, Approval : Pending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7E62A67-78E7-B72A-7E69-B210B9DB09A8}"/>
              </a:ext>
            </a:extLst>
          </p:cNvPr>
          <p:cNvCxnSpPr/>
          <p:nvPr/>
        </p:nvCxnSpPr>
        <p:spPr>
          <a:xfrm flipH="1">
            <a:off x="5424019" y="3883805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D970EAF-0F33-C61E-441E-FFCE19E90326}"/>
              </a:ext>
            </a:extLst>
          </p:cNvPr>
          <p:cNvSpPr txBox="1"/>
          <p:nvPr/>
        </p:nvSpPr>
        <p:spPr>
          <a:xfrm>
            <a:off x="5929985" y="3648327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success message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5402615-AE8C-EA22-D394-A837C9510F29}"/>
              </a:ext>
            </a:extLst>
          </p:cNvPr>
          <p:cNvCxnSpPr/>
          <p:nvPr/>
        </p:nvCxnSpPr>
        <p:spPr>
          <a:xfrm flipH="1">
            <a:off x="1361905" y="4018085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09F1637-2C7B-7ACA-F500-0BAB5E047666}"/>
              </a:ext>
            </a:extLst>
          </p:cNvPr>
          <p:cNvSpPr txBox="1"/>
          <p:nvPr/>
        </p:nvSpPr>
        <p:spPr>
          <a:xfrm>
            <a:off x="1867871" y="3782607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success message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D6487D8-893D-B806-09AD-F9A4C5787DD0}"/>
              </a:ext>
            </a:extLst>
          </p:cNvPr>
          <p:cNvCxnSpPr>
            <a:cxnSpLocks/>
          </p:cNvCxnSpPr>
          <p:nvPr/>
        </p:nvCxnSpPr>
        <p:spPr>
          <a:xfrm>
            <a:off x="9414847" y="4406669"/>
            <a:ext cx="4910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A65586A-B5EA-7D93-2447-7FCD9E8B5788}"/>
              </a:ext>
            </a:extLst>
          </p:cNvPr>
          <p:cNvCxnSpPr/>
          <p:nvPr/>
        </p:nvCxnSpPr>
        <p:spPr>
          <a:xfrm>
            <a:off x="9905945" y="4406669"/>
            <a:ext cx="0" cy="1741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52D762C-E7C4-E2A0-A116-CF460F3E16DD}"/>
              </a:ext>
            </a:extLst>
          </p:cNvPr>
          <p:cNvCxnSpPr/>
          <p:nvPr/>
        </p:nvCxnSpPr>
        <p:spPr>
          <a:xfrm flipH="1">
            <a:off x="9414847" y="4580841"/>
            <a:ext cx="491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AE1BA59-0717-34C3-FF27-B348E14F474E}"/>
              </a:ext>
            </a:extLst>
          </p:cNvPr>
          <p:cNvSpPr txBox="1"/>
          <p:nvPr/>
        </p:nvSpPr>
        <p:spPr>
          <a:xfrm>
            <a:off x="9921058" y="4262773"/>
            <a:ext cx="19953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Success in processing request</a:t>
            </a:r>
          </a:p>
          <a:p>
            <a:r>
              <a:rPr lang="en-GB" sz="1000"/>
              <a:t>Request : Created, Attachment : Not Available, Approval : Pending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7AFEBF2-97D7-D101-EAD3-91B72EADD0E8}"/>
              </a:ext>
            </a:extLst>
          </p:cNvPr>
          <p:cNvCxnSpPr>
            <a:cxnSpLocks/>
          </p:cNvCxnSpPr>
          <p:nvPr/>
        </p:nvCxnSpPr>
        <p:spPr>
          <a:xfrm>
            <a:off x="9445074" y="5133555"/>
            <a:ext cx="4910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6112980-2D9E-1BBE-262C-6E630C9D8AC8}"/>
              </a:ext>
            </a:extLst>
          </p:cNvPr>
          <p:cNvCxnSpPr/>
          <p:nvPr/>
        </p:nvCxnSpPr>
        <p:spPr>
          <a:xfrm>
            <a:off x="9936172" y="5133555"/>
            <a:ext cx="0" cy="1741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2E530EB-F1D6-D098-F88F-030EE2E5B751}"/>
              </a:ext>
            </a:extLst>
          </p:cNvPr>
          <p:cNvCxnSpPr/>
          <p:nvPr/>
        </p:nvCxnSpPr>
        <p:spPr>
          <a:xfrm flipH="1">
            <a:off x="9445074" y="5307727"/>
            <a:ext cx="491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C14B6FA-A767-F476-4C4C-B70D1FBD83A8}"/>
              </a:ext>
            </a:extLst>
          </p:cNvPr>
          <p:cNvSpPr txBox="1"/>
          <p:nvPr/>
        </p:nvSpPr>
        <p:spPr>
          <a:xfrm>
            <a:off x="9951285" y="4989659"/>
            <a:ext cx="19953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Failure in processing request</a:t>
            </a:r>
          </a:p>
          <a:p>
            <a:r>
              <a:rPr lang="en-GB" sz="1000"/>
              <a:t>Request : Not Created, Attachment : Not Available, Approval : Not Applicable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BF033BB-7572-E858-1838-E786EAA54623}"/>
              </a:ext>
            </a:extLst>
          </p:cNvPr>
          <p:cNvCxnSpPr/>
          <p:nvPr/>
        </p:nvCxnSpPr>
        <p:spPr>
          <a:xfrm flipH="1">
            <a:off x="5393792" y="4751931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5BEF81B-A4E5-3A85-403E-325E5FB771E5}"/>
              </a:ext>
            </a:extLst>
          </p:cNvPr>
          <p:cNvSpPr txBox="1"/>
          <p:nvPr/>
        </p:nvSpPr>
        <p:spPr>
          <a:xfrm>
            <a:off x="5937237" y="4341079"/>
            <a:ext cx="214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partial success message but attachment missing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244DA3D-760F-0918-7BC0-508AACFE389E}"/>
              </a:ext>
            </a:extLst>
          </p:cNvPr>
          <p:cNvCxnSpPr/>
          <p:nvPr/>
        </p:nvCxnSpPr>
        <p:spPr>
          <a:xfrm flipH="1">
            <a:off x="5367846" y="5428223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4F2D166-06BC-910C-5FAB-6E5E1CB572BF}"/>
              </a:ext>
            </a:extLst>
          </p:cNvPr>
          <p:cNvSpPr txBox="1"/>
          <p:nvPr/>
        </p:nvSpPr>
        <p:spPr>
          <a:xfrm>
            <a:off x="5873812" y="5192745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failure message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A7083E0-AF59-8AEF-E08D-6BA80FCCC7ED}"/>
              </a:ext>
            </a:extLst>
          </p:cNvPr>
          <p:cNvCxnSpPr/>
          <p:nvPr/>
        </p:nvCxnSpPr>
        <p:spPr>
          <a:xfrm flipH="1">
            <a:off x="1346792" y="4943961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C3BE9ED-1745-3B1C-DC64-29BF46E29EE1}"/>
              </a:ext>
            </a:extLst>
          </p:cNvPr>
          <p:cNvSpPr txBox="1"/>
          <p:nvPr/>
        </p:nvSpPr>
        <p:spPr>
          <a:xfrm>
            <a:off x="1867871" y="4720748"/>
            <a:ext cx="3182559" cy="246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success message with different code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662A707-692F-507C-375E-2FFB8E7261B6}"/>
              </a:ext>
            </a:extLst>
          </p:cNvPr>
          <p:cNvCxnSpPr/>
          <p:nvPr/>
        </p:nvCxnSpPr>
        <p:spPr>
          <a:xfrm flipH="1">
            <a:off x="1361905" y="5653386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4614F857-F27E-0B53-E6F3-C8EAB643B9BB}"/>
              </a:ext>
            </a:extLst>
          </p:cNvPr>
          <p:cNvSpPr txBox="1"/>
          <p:nvPr/>
        </p:nvSpPr>
        <p:spPr>
          <a:xfrm>
            <a:off x="1924046" y="5413592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failure message</a:t>
            </a:r>
          </a:p>
        </p:txBody>
      </p:sp>
    </p:spTree>
    <p:extLst>
      <p:ext uri="{BB962C8B-B14F-4D97-AF65-F5344CB8AC3E}">
        <p14:creationId xmlns:p14="http://schemas.microsoft.com/office/powerpoint/2010/main" val="3643846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0547-1490-3050-3059-90CC3AB53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E6C7-76BC-CCAA-B6E9-D71E4EE7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39" y="-174161"/>
            <a:ext cx="10515600" cy="1325563"/>
          </a:xfrm>
        </p:spPr>
        <p:txBody>
          <a:bodyPr>
            <a:normAutofit/>
          </a:bodyPr>
          <a:lstStyle/>
          <a:p>
            <a:r>
              <a:rPr lang="en-GB" sz="2500">
                <a:solidFill>
                  <a:srgbClr val="FF0000"/>
                </a:solidFill>
              </a:rPr>
              <a:t>Integration Details – SIP to Vantage Approval/ Rejection update</a:t>
            </a:r>
            <a:br>
              <a:rPr lang="en-GB" sz="2500">
                <a:solidFill>
                  <a:srgbClr val="FF0000"/>
                </a:solidFill>
              </a:rPr>
            </a:br>
            <a:endParaRPr lang="en-GB" sz="2500">
              <a:solidFill>
                <a:srgbClr val="FF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61AC5B-99BB-FDED-3037-AFC0BEA82345}"/>
              </a:ext>
            </a:extLst>
          </p:cNvPr>
          <p:cNvSpPr/>
          <p:nvPr/>
        </p:nvSpPr>
        <p:spPr>
          <a:xfrm>
            <a:off x="824127" y="907909"/>
            <a:ext cx="1075556" cy="269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SIP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D20E07-A4BD-C207-19FC-E4FB544A66A8}"/>
              </a:ext>
            </a:extLst>
          </p:cNvPr>
          <p:cNvSpPr/>
          <p:nvPr/>
        </p:nvSpPr>
        <p:spPr>
          <a:xfrm>
            <a:off x="4763665" y="907909"/>
            <a:ext cx="1238588" cy="269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DXL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8235DC-E3B9-2DB4-5E49-D110312FD1F7}"/>
              </a:ext>
            </a:extLst>
          </p:cNvPr>
          <p:cNvSpPr/>
          <p:nvPr/>
        </p:nvSpPr>
        <p:spPr>
          <a:xfrm>
            <a:off x="8810666" y="863588"/>
            <a:ext cx="1238588" cy="2552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Vantage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587C3F-BCD9-D43A-1922-0B6211C7B0B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361905" y="1177079"/>
            <a:ext cx="0" cy="5415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C64816-FA45-FE19-F215-AA0883C76D29}"/>
              </a:ext>
            </a:extLst>
          </p:cNvPr>
          <p:cNvCxnSpPr>
            <a:cxnSpLocks/>
          </p:cNvCxnSpPr>
          <p:nvPr/>
        </p:nvCxnSpPr>
        <p:spPr>
          <a:xfrm>
            <a:off x="5398073" y="1177078"/>
            <a:ext cx="0" cy="5415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14D823-0A56-B2B9-3812-8A6CB75E701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9429960" y="1118880"/>
            <a:ext cx="0" cy="55296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12893F-29F0-CEA7-9858-2F447E1E1ABF}"/>
              </a:ext>
            </a:extLst>
          </p:cNvPr>
          <p:cNvCxnSpPr>
            <a:cxnSpLocks/>
          </p:cNvCxnSpPr>
          <p:nvPr/>
        </p:nvCxnSpPr>
        <p:spPr>
          <a:xfrm>
            <a:off x="1377019" y="1582889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1C62478-07CE-254C-3871-1AFC72BBE61A}"/>
              </a:ext>
            </a:extLst>
          </p:cNvPr>
          <p:cNvSpPr txBox="1"/>
          <p:nvPr/>
        </p:nvSpPr>
        <p:spPr>
          <a:xfrm>
            <a:off x="1842170" y="1291606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HTTPS GET call for the auth token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9A811A-C897-116C-D84B-BF1AAFD8E992}"/>
              </a:ext>
            </a:extLst>
          </p:cNvPr>
          <p:cNvCxnSpPr/>
          <p:nvPr/>
        </p:nvCxnSpPr>
        <p:spPr>
          <a:xfrm flipH="1">
            <a:off x="1361905" y="1796143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FA099C4-9AD3-DBA3-2EB8-939BC3073217}"/>
              </a:ext>
            </a:extLst>
          </p:cNvPr>
          <p:cNvSpPr txBox="1"/>
          <p:nvPr/>
        </p:nvSpPr>
        <p:spPr>
          <a:xfrm>
            <a:off x="1867871" y="1560665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Auth Token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58AD767-ABDF-BC0D-43C4-DDF90998C0A4}"/>
              </a:ext>
            </a:extLst>
          </p:cNvPr>
          <p:cNvCxnSpPr>
            <a:cxnSpLocks/>
          </p:cNvCxnSpPr>
          <p:nvPr/>
        </p:nvCxnSpPr>
        <p:spPr>
          <a:xfrm>
            <a:off x="1377019" y="2050974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4FAE035-276C-0553-0CC1-DD449D656AB2}"/>
              </a:ext>
            </a:extLst>
          </p:cNvPr>
          <p:cNvSpPr txBox="1"/>
          <p:nvPr/>
        </p:nvSpPr>
        <p:spPr>
          <a:xfrm>
            <a:off x="1477866" y="1802989"/>
            <a:ext cx="4021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HTTPS POST to share the Site ID and Approval Status and Comments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4D83D0D-F79F-08DD-1588-62C10EDAAE01}"/>
              </a:ext>
            </a:extLst>
          </p:cNvPr>
          <p:cNvCxnSpPr>
            <a:cxnSpLocks/>
          </p:cNvCxnSpPr>
          <p:nvPr/>
        </p:nvCxnSpPr>
        <p:spPr>
          <a:xfrm>
            <a:off x="5398073" y="2166257"/>
            <a:ext cx="4910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C68854C-36D6-55F3-748F-DCC9D7A989B0}"/>
              </a:ext>
            </a:extLst>
          </p:cNvPr>
          <p:cNvCxnSpPr/>
          <p:nvPr/>
        </p:nvCxnSpPr>
        <p:spPr>
          <a:xfrm>
            <a:off x="5889171" y="2166257"/>
            <a:ext cx="0" cy="1741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58A720B-0F62-82F3-88B9-B8F9176D4FAB}"/>
              </a:ext>
            </a:extLst>
          </p:cNvPr>
          <p:cNvCxnSpPr/>
          <p:nvPr/>
        </p:nvCxnSpPr>
        <p:spPr>
          <a:xfrm flipH="1">
            <a:off x="5398073" y="2340429"/>
            <a:ext cx="491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77D0E55-C186-FBA6-6E69-EADC6747E935}"/>
              </a:ext>
            </a:extLst>
          </p:cNvPr>
          <p:cNvSpPr txBox="1"/>
          <p:nvPr/>
        </p:nvSpPr>
        <p:spPr>
          <a:xfrm>
            <a:off x="5442804" y="1920035"/>
            <a:ext cx="1995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Validate and authenticate client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07F38F-2DC3-9935-C08A-638D97E45823}"/>
              </a:ext>
            </a:extLst>
          </p:cNvPr>
          <p:cNvCxnSpPr>
            <a:cxnSpLocks/>
          </p:cNvCxnSpPr>
          <p:nvPr/>
        </p:nvCxnSpPr>
        <p:spPr>
          <a:xfrm>
            <a:off x="5424020" y="2524755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F03F646-3D62-376B-E95A-5F6F72924B3E}"/>
              </a:ext>
            </a:extLst>
          </p:cNvPr>
          <p:cNvSpPr txBox="1"/>
          <p:nvPr/>
        </p:nvSpPr>
        <p:spPr>
          <a:xfrm>
            <a:off x="5889171" y="2233472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HTTPS GET call for the auth token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884983-0550-5D3A-8ACD-38E33F5450DC}"/>
              </a:ext>
            </a:extLst>
          </p:cNvPr>
          <p:cNvCxnSpPr/>
          <p:nvPr/>
        </p:nvCxnSpPr>
        <p:spPr>
          <a:xfrm flipH="1">
            <a:off x="5408906" y="2738009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7A0D582-3621-F892-C6B6-EBFF5813A069}"/>
              </a:ext>
            </a:extLst>
          </p:cNvPr>
          <p:cNvSpPr txBox="1"/>
          <p:nvPr/>
        </p:nvSpPr>
        <p:spPr>
          <a:xfrm>
            <a:off x="5914872" y="2502531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Auth Token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5E4274F-0C43-D411-DB57-1DA6B096DF80}"/>
              </a:ext>
            </a:extLst>
          </p:cNvPr>
          <p:cNvCxnSpPr>
            <a:cxnSpLocks/>
          </p:cNvCxnSpPr>
          <p:nvPr/>
        </p:nvCxnSpPr>
        <p:spPr>
          <a:xfrm>
            <a:off x="5424020" y="2992840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AB5B446-B4FC-1ED4-3A1C-4ED3780EAC1B}"/>
              </a:ext>
            </a:extLst>
          </p:cNvPr>
          <p:cNvSpPr txBox="1"/>
          <p:nvPr/>
        </p:nvSpPr>
        <p:spPr>
          <a:xfrm>
            <a:off x="5899758" y="2745411"/>
            <a:ext cx="32333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HTTPS POST call to share the site approval to Vantage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256BA60-5C29-F81F-4F61-CA9C571F4116}"/>
              </a:ext>
            </a:extLst>
          </p:cNvPr>
          <p:cNvSpPr/>
          <p:nvPr/>
        </p:nvSpPr>
        <p:spPr>
          <a:xfrm>
            <a:off x="883972" y="6567693"/>
            <a:ext cx="1075556" cy="269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SIP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C5EF416-39A6-5B45-386E-59ED1FFF09BC}"/>
              </a:ext>
            </a:extLst>
          </p:cNvPr>
          <p:cNvSpPr/>
          <p:nvPr/>
        </p:nvSpPr>
        <p:spPr>
          <a:xfrm>
            <a:off x="4823510" y="6567693"/>
            <a:ext cx="1238588" cy="269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DXL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CC21C04-C242-2049-71C3-7A97F9986040}"/>
              </a:ext>
            </a:extLst>
          </p:cNvPr>
          <p:cNvSpPr/>
          <p:nvPr/>
        </p:nvSpPr>
        <p:spPr>
          <a:xfrm>
            <a:off x="8870511" y="6523372"/>
            <a:ext cx="1238588" cy="2552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Vantage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36BCC4D-1171-1899-8927-A6830B2CEC02}"/>
              </a:ext>
            </a:extLst>
          </p:cNvPr>
          <p:cNvCxnSpPr>
            <a:cxnSpLocks/>
          </p:cNvCxnSpPr>
          <p:nvPr/>
        </p:nvCxnSpPr>
        <p:spPr>
          <a:xfrm>
            <a:off x="9429960" y="3145972"/>
            <a:ext cx="4910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E02A00-766B-0ED8-FAA6-EF1522740730}"/>
              </a:ext>
            </a:extLst>
          </p:cNvPr>
          <p:cNvCxnSpPr/>
          <p:nvPr/>
        </p:nvCxnSpPr>
        <p:spPr>
          <a:xfrm>
            <a:off x="9921058" y="3145972"/>
            <a:ext cx="0" cy="1741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1B435ED-1F77-B4D4-2E16-910AC0A39F28}"/>
              </a:ext>
            </a:extLst>
          </p:cNvPr>
          <p:cNvCxnSpPr/>
          <p:nvPr/>
        </p:nvCxnSpPr>
        <p:spPr>
          <a:xfrm flipH="1">
            <a:off x="9429960" y="3320144"/>
            <a:ext cx="491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36F9DCD-FD10-1380-DA1F-178A6E093988}"/>
              </a:ext>
            </a:extLst>
          </p:cNvPr>
          <p:cNvSpPr txBox="1"/>
          <p:nvPr/>
        </p:nvSpPr>
        <p:spPr>
          <a:xfrm>
            <a:off x="9572465" y="2883558"/>
            <a:ext cx="1995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Validate and authenticate client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4B83107-9AA7-0417-3722-75812F40F59C}"/>
              </a:ext>
            </a:extLst>
          </p:cNvPr>
          <p:cNvCxnSpPr>
            <a:cxnSpLocks/>
          </p:cNvCxnSpPr>
          <p:nvPr/>
        </p:nvCxnSpPr>
        <p:spPr>
          <a:xfrm>
            <a:off x="9445074" y="3535886"/>
            <a:ext cx="4910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EB928B2-4314-0E36-F454-5E78196B38CE}"/>
              </a:ext>
            </a:extLst>
          </p:cNvPr>
          <p:cNvCxnSpPr/>
          <p:nvPr/>
        </p:nvCxnSpPr>
        <p:spPr>
          <a:xfrm>
            <a:off x="9936172" y="3535886"/>
            <a:ext cx="0" cy="1741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E131CC8-F64A-0D22-B25F-52197076B60B}"/>
              </a:ext>
            </a:extLst>
          </p:cNvPr>
          <p:cNvCxnSpPr/>
          <p:nvPr/>
        </p:nvCxnSpPr>
        <p:spPr>
          <a:xfrm flipH="1">
            <a:off x="9445074" y="3710058"/>
            <a:ext cx="491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E14F11A-C81D-ED17-D0F2-20CC86F5226A}"/>
              </a:ext>
            </a:extLst>
          </p:cNvPr>
          <p:cNvSpPr txBox="1"/>
          <p:nvPr/>
        </p:nvSpPr>
        <p:spPr>
          <a:xfrm>
            <a:off x="9951285" y="3391990"/>
            <a:ext cx="19953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Success in processing request</a:t>
            </a:r>
          </a:p>
          <a:p>
            <a:r>
              <a:rPr lang="en-GB" sz="1000"/>
              <a:t>Comments : Site Approval is Approved or Rejected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67C3C51-4142-0F1C-C24F-A5FE138565CE}"/>
              </a:ext>
            </a:extLst>
          </p:cNvPr>
          <p:cNvCxnSpPr/>
          <p:nvPr/>
        </p:nvCxnSpPr>
        <p:spPr>
          <a:xfrm flipH="1">
            <a:off x="5424019" y="3883805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DDC12B7-FAFE-08D3-9F3B-A549C5FDF28A}"/>
              </a:ext>
            </a:extLst>
          </p:cNvPr>
          <p:cNvSpPr txBox="1"/>
          <p:nvPr/>
        </p:nvSpPr>
        <p:spPr>
          <a:xfrm>
            <a:off x="5929985" y="3648327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success message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4ECEC87-35B2-24FB-9CC4-1CF4BF1B5F3E}"/>
              </a:ext>
            </a:extLst>
          </p:cNvPr>
          <p:cNvCxnSpPr/>
          <p:nvPr/>
        </p:nvCxnSpPr>
        <p:spPr>
          <a:xfrm flipH="1">
            <a:off x="1361905" y="4018085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106E508-9000-5235-A59F-4627651CE251}"/>
              </a:ext>
            </a:extLst>
          </p:cNvPr>
          <p:cNvSpPr txBox="1"/>
          <p:nvPr/>
        </p:nvSpPr>
        <p:spPr>
          <a:xfrm>
            <a:off x="1867871" y="3782607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success message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8506C9B-0622-B6C8-5DF6-1C74E991FBE4}"/>
              </a:ext>
            </a:extLst>
          </p:cNvPr>
          <p:cNvCxnSpPr>
            <a:cxnSpLocks/>
          </p:cNvCxnSpPr>
          <p:nvPr/>
        </p:nvCxnSpPr>
        <p:spPr>
          <a:xfrm>
            <a:off x="9445074" y="5133555"/>
            <a:ext cx="4910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07BA912-98C0-89D6-02F6-CB2903B5A803}"/>
              </a:ext>
            </a:extLst>
          </p:cNvPr>
          <p:cNvCxnSpPr/>
          <p:nvPr/>
        </p:nvCxnSpPr>
        <p:spPr>
          <a:xfrm>
            <a:off x="9936172" y="5133555"/>
            <a:ext cx="0" cy="1741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A5177B1-42CF-0034-6967-AC6A852C2B20}"/>
              </a:ext>
            </a:extLst>
          </p:cNvPr>
          <p:cNvCxnSpPr/>
          <p:nvPr/>
        </p:nvCxnSpPr>
        <p:spPr>
          <a:xfrm flipH="1">
            <a:off x="9445074" y="5307727"/>
            <a:ext cx="491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A2FD07E-B151-C474-8BD0-D8A9F9442E10}"/>
              </a:ext>
            </a:extLst>
          </p:cNvPr>
          <p:cNvSpPr txBox="1"/>
          <p:nvPr/>
        </p:nvSpPr>
        <p:spPr>
          <a:xfrm>
            <a:off x="9951285" y="4989659"/>
            <a:ext cx="19953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Failure in processing request</a:t>
            </a:r>
          </a:p>
          <a:p>
            <a:r>
              <a:rPr lang="en-GB" sz="1000"/>
              <a:t>Request : Not Created, Attachment : Not Available, Approval : Not Applicable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66B47DB-152E-3783-8934-248E4503C365}"/>
              </a:ext>
            </a:extLst>
          </p:cNvPr>
          <p:cNvCxnSpPr/>
          <p:nvPr/>
        </p:nvCxnSpPr>
        <p:spPr>
          <a:xfrm flipH="1">
            <a:off x="5367846" y="5428223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C37C223-C278-C081-0ACC-D197B2EB51E4}"/>
              </a:ext>
            </a:extLst>
          </p:cNvPr>
          <p:cNvSpPr txBox="1"/>
          <p:nvPr/>
        </p:nvSpPr>
        <p:spPr>
          <a:xfrm>
            <a:off x="5873812" y="5192745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failure message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CC7DFC8-B29B-53DE-0418-88ADE9E0195A}"/>
              </a:ext>
            </a:extLst>
          </p:cNvPr>
          <p:cNvCxnSpPr/>
          <p:nvPr/>
        </p:nvCxnSpPr>
        <p:spPr>
          <a:xfrm flipH="1">
            <a:off x="1361905" y="5653386"/>
            <a:ext cx="4021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4EE35CF-5765-C8E4-733A-CE5BA9A7140A}"/>
              </a:ext>
            </a:extLst>
          </p:cNvPr>
          <p:cNvSpPr txBox="1"/>
          <p:nvPr/>
        </p:nvSpPr>
        <p:spPr>
          <a:xfrm>
            <a:off x="1924046" y="5413592"/>
            <a:ext cx="214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Responds with failure message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8C6BBF0-7FD1-5D3D-73F7-D6404829D33A}"/>
              </a:ext>
            </a:extLst>
          </p:cNvPr>
          <p:cNvSpPr/>
          <p:nvPr/>
        </p:nvSpPr>
        <p:spPr>
          <a:xfrm>
            <a:off x="10523936" y="167286"/>
            <a:ext cx="1661589" cy="642667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WIP</a:t>
            </a:r>
          </a:p>
        </p:txBody>
      </p:sp>
    </p:spTree>
    <p:extLst>
      <p:ext uri="{BB962C8B-B14F-4D97-AF65-F5344CB8AC3E}">
        <p14:creationId xmlns:p14="http://schemas.microsoft.com/office/powerpoint/2010/main" val="3677012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137A-56B5-1C97-F37B-AB0F8D64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3" y="101600"/>
            <a:ext cx="10515600" cy="74521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0000"/>
                </a:solidFill>
              </a:rPr>
              <a:t>Capability &amp; Application Mapping</a:t>
            </a:r>
            <a:endParaRPr lang="en-GB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EB0ABA-76F9-FE0A-FDA5-EED59520B7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1147125"/>
              </p:ext>
            </p:extLst>
          </p:nvPr>
        </p:nvGraphicFramePr>
        <p:xfrm>
          <a:off x="669472" y="944789"/>
          <a:ext cx="10853056" cy="5481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979">
                  <a:extLst>
                    <a:ext uri="{9D8B030D-6E8A-4147-A177-3AD203B41FA5}">
                      <a16:colId xmlns:a16="http://schemas.microsoft.com/office/drawing/2014/main" val="3874758639"/>
                    </a:ext>
                  </a:extLst>
                </a:gridCol>
                <a:gridCol w="962869">
                  <a:extLst>
                    <a:ext uri="{9D8B030D-6E8A-4147-A177-3AD203B41FA5}">
                      <a16:colId xmlns:a16="http://schemas.microsoft.com/office/drawing/2014/main" val="3941964817"/>
                    </a:ext>
                  </a:extLst>
                </a:gridCol>
                <a:gridCol w="4400823">
                  <a:extLst>
                    <a:ext uri="{9D8B030D-6E8A-4147-A177-3AD203B41FA5}">
                      <a16:colId xmlns:a16="http://schemas.microsoft.com/office/drawing/2014/main" val="3988086721"/>
                    </a:ext>
                  </a:extLst>
                </a:gridCol>
                <a:gridCol w="947057">
                  <a:extLst>
                    <a:ext uri="{9D8B030D-6E8A-4147-A177-3AD203B41FA5}">
                      <a16:colId xmlns:a16="http://schemas.microsoft.com/office/drawing/2014/main" val="1819890068"/>
                    </a:ext>
                  </a:extLst>
                </a:gridCol>
                <a:gridCol w="550519">
                  <a:extLst>
                    <a:ext uri="{9D8B030D-6E8A-4147-A177-3AD203B41FA5}">
                      <a16:colId xmlns:a16="http://schemas.microsoft.com/office/drawing/2014/main" val="2083881669"/>
                    </a:ext>
                  </a:extLst>
                </a:gridCol>
                <a:gridCol w="827080">
                  <a:extLst>
                    <a:ext uri="{9D8B030D-6E8A-4147-A177-3AD203B41FA5}">
                      <a16:colId xmlns:a16="http://schemas.microsoft.com/office/drawing/2014/main" val="1253077613"/>
                    </a:ext>
                  </a:extLst>
                </a:gridCol>
                <a:gridCol w="839425">
                  <a:extLst>
                    <a:ext uri="{9D8B030D-6E8A-4147-A177-3AD203B41FA5}">
                      <a16:colId xmlns:a16="http://schemas.microsoft.com/office/drawing/2014/main" val="252764763"/>
                    </a:ext>
                  </a:extLst>
                </a:gridCol>
                <a:gridCol w="629568">
                  <a:extLst>
                    <a:ext uri="{9D8B030D-6E8A-4147-A177-3AD203B41FA5}">
                      <a16:colId xmlns:a16="http://schemas.microsoft.com/office/drawing/2014/main" val="3465276949"/>
                    </a:ext>
                  </a:extLst>
                </a:gridCol>
                <a:gridCol w="979736">
                  <a:extLst>
                    <a:ext uri="{9D8B030D-6E8A-4147-A177-3AD203B41FA5}">
                      <a16:colId xmlns:a16="http://schemas.microsoft.com/office/drawing/2014/main" val="3382023735"/>
                    </a:ext>
                  </a:extLst>
                </a:gridCol>
              </a:tblGrid>
              <a:tr h="343103"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Epic 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Capability Jira 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Capability Details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Status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VT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DXL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SIP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FINCA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REFX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883009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r>
                        <a:rPr lang="en-GB" sz="900"/>
                        <a:t>VSG-2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VSG-6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Creating a Record That Allows for Payment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277856"/>
                  </a:ext>
                </a:extLst>
              </a:tr>
              <a:tr h="211502">
                <a:tc>
                  <a:txBody>
                    <a:bodyPr/>
                    <a:lstStyle/>
                    <a:p>
                      <a:r>
                        <a:rPr lang="en-GB" sz="900"/>
                        <a:t>VSG-2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VSG-7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Create Technical Components That Record a Created Asset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027612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r>
                        <a:rPr lang="en-GB" sz="900"/>
                        <a:t>VSG-2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VSG-8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Reference Data - Capture and Manage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21362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r>
                        <a:rPr lang="en-GB" sz="900"/>
                        <a:t>VSG-2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VSG-9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Asset Creation Approval Workflow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235961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VSG-3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VSG-10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Contract Lifecycle Change – Managed Services Ag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396606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r>
                        <a:rPr lang="en-GB" sz="900"/>
                        <a:t>VSG-3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VSG-11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Cease and Decommissioning of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662760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r>
                        <a:rPr lang="en-GB" sz="900"/>
                        <a:t>VSG-3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VSG-12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Move, Adds, and Changes of Individual Assets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133804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r>
                        <a:rPr lang="en-GB" sz="900"/>
                        <a:t>VSG-4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VSG-13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Paying for Towers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228883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r>
                        <a:rPr lang="en-GB" sz="900"/>
                        <a:t>VSG-4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VSG-14</a:t>
                      </a:r>
                    </a:p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Accounting for Towers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799683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VSG-4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VSG-15</a:t>
                      </a:r>
                    </a:p>
                    <a:p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Record Variable Costs (Usage of Monthly Variable Charging)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967242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VSG-4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VSG-16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Exception Handling (Data Stewardship)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932322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r>
                        <a:rPr lang="en-GB" sz="900"/>
                        <a:t>VSG-4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VSG-17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Dispute Resolution of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674200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r>
                        <a:rPr lang="en-GB" sz="900"/>
                        <a:t>VSG-4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VSG-18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954146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r>
                        <a:rPr lang="en-GB" sz="900"/>
                        <a:t>VSG-4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VSG-19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 and System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70922"/>
                  </a:ext>
                </a:extLst>
              </a:tr>
              <a:tr h="343103">
                <a:tc>
                  <a:txBody>
                    <a:bodyPr/>
                    <a:lstStyle/>
                    <a:p>
                      <a:r>
                        <a:rPr lang="en-GB" sz="900"/>
                        <a:t>VSG-4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/>
                        <a:t>VSG-20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u="sng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ReFX</a:t>
                      </a:r>
                      <a:r>
                        <a:rPr lang="en-GB" sz="1000" u="sng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74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772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D3F3-C039-158B-BF02-84974C71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1" y="0"/>
            <a:ext cx="10515600" cy="798174"/>
          </a:xfrm>
        </p:spPr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Security &amp;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E1612-6AB6-9B10-9E19-25C02ED6D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336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4AB92-88C9-C3D9-A574-319EB859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NFR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43DF9-22D1-2B2F-8D24-128C0C51C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24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514C-1BEE-2C36-A4D5-DDB231B0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D331-9B92-B7B3-08B4-BA5ADF1B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/>
              <a:t>Assumption &amp; 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47F95-A800-5EC1-ECF5-DFAD07E26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187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DA316-93B9-F742-430A-2ECD068BC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7E7EB-AF1E-A26B-38A3-5A9ACF25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NFR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8688F-2132-8871-6DD3-D0A55B788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756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93D06D-361A-A7B2-04AE-341F7DA68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6A07C324-FA12-7A2F-5AB0-330A0FEC1FA1}"/>
              </a:ext>
            </a:extLst>
          </p:cNvPr>
          <p:cNvSpPr txBox="1"/>
          <p:nvPr/>
        </p:nvSpPr>
        <p:spPr>
          <a:xfrm>
            <a:off x="576048" y="481454"/>
            <a:ext cx="706983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>
                <a:solidFill>
                  <a:srgbClr val="FF0000"/>
                </a:solidFill>
              </a:rPr>
              <a:t>Logical &amp; Physical Data Model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B5D6F0C-4D91-D56B-12B7-AD5510F107C4}"/>
              </a:ext>
            </a:extLst>
          </p:cNvPr>
          <p:cNvSpPr/>
          <p:nvPr/>
        </p:nvSpPr>
        <p:spPr>
          <a:xfrm>
            <a:off x="1114352" y="972456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Supplier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A69C39A-B76E-6C1F-AF8A-5547550DBF75}"/>
              </a:ext>
            </a:extLst>
          </p:cNvPr>
          <p:cNvSpPr/>
          <p:nvPr/>
        </p:nvSpPr>
        <p:spPr>
          <a:xfrm>
            <a:off x="1114352" y="3315964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Supplier </a:t>
            </a:r>
            <a:r>
              <a:rPr lang="en-GB" sz="1400" err="1">
                <a:solidFill>
                  <a:schemeClr val="tx1"/>
                </a:solidFill>
              </a:rPr>
              <a:t>Catalog</a:t>
            </a: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22D1413-AFCA-47AF-FB8F-AB530C6DE901}"/>
              </a:ext>
            </a:extLst>
          </p:cNvPr>
          <p:cNvSpPr/>
          <p:nvPr/>
        </p:nvSpPr>
        <p:spPr>
          <a:xfrm>
            <a:off x="1114351" y="4121096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 Offering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58D465F-0B21-4362-0885-4E31AB4D1143}"/>
              </a:ext>
            </a:extLst>
          </p:cNvPr>
          <p:cNvSpPr/>
          <p:nvPr/>
        </p:nvSpPr>
        <p:spPr>
          <a:xfrm>
            <a:off x="222954" y="4969360"/>
            <a:ext cx="1517815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 Specification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EDFA470-913A-D3C0-215F-42D4AF97B95B}"/>
              </a:ext>
            </a:extLst>
          </p:cNvPr>
          <p:cNvSpPr/>
          <p:nvPr/>
        </p:nvSpPr>
        <p:spPr>
          <a:xfrm>
            <a:off x="1890727" y="4969359"/>
            <a:ext cx="1517815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GB" sz="1400">
                <a:solidFill>
                  <a:schemeClr val="tx1"/>
                </a:solidFill>
              </a:rPr>
              <a:t>Characteristic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13E3E24-FF30-53DE-9B6E-ED4915135837}"/>
              </a:ext>
            </a:extLst>
          </p:cNvPr>
          <p:cNvSpPr/>
          <p:nvPr/>
        </p:nvSpPr>
        <p:spPr>
          <a:xfrm>
            <a:off x="5758236" y="5673850"/>
            <a:ext cx="1517815" cy="6821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 Model </a:t>
            </a:r>
          </a:p>
          <a:p>
            <a:pPr algn="ctr"/>
            <a:r>
              <a:rPr lang="en-GB" sz="1400">
                <a:solidFill>
                  <a:schemeClr val="tx1"/>
                </a:solidFill>
              </a:rPr>
              <a:t>Characteristic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32DE7BB-54A2-235D-4E7C-F4EF908F998E}"/>
              </a:ext>
            </a:extLst>
          </p:cNvPr>
          <p:cNvSpPr/>
          <p:nvPr/>
        </p:nvSpPr>
        <p:spPr>
          <a:xfrm>
            <a:off x="7612917" y="1921361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OPCO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D1DD647-167C-B2C2-AF34-5907D2171330}"/>
              </a:ext>
            </a:extLst>
          </p:cNvPr>
          <p:cNvSpPr/>
          <p:nvPr/>
        </p:nvSpPr>
        <p:spPr>
          <a:xfrm>
            <a:off x="4737444" y="1906982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MSA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C6EA675-9C25-F3CE-BB78-C2583D9299BC}"/>
              </a:ext>
            </a:extLst>
          </p:cNvPr>
          <p:cNvSpPr/>
          <p:nvPr/>
        </p:nvSpPr>
        <p:spPr>
          <a:xfrm>
            <a:off x="4665557" y="2769622"/>
            <a:ext cx="1503438" cy="5383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Case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DE934A0-B689-E353-4CAA-4615A96E6E79}"/>
              </a:ext>
            </a:extLst>
          </p:cNvPr>
          <p:cNvSpPr/>
          <p:nvPr/>
        </p:nvSpPr>
        <p:spPr>
          <a:xfrm>
            <a:off x="4794952" y="4149849"/>
            <a:ext cx="1244646" cy="5527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 Inventory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35567BD-8EED-4964-575C-80BEDCC83CD9}"/>
              </a:ext>
            </a:extLst>
          </p:cNvPr>
          <p:cNvSpPr/>
          <p:nvPr/>
        </p:nvSpPr>
        <p:spPr>
          <a:xfrm>
            <a:off x="4737442" y="4940604"/>
            <a:ext cx="1445929" cy="5670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Inventory Characteristics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25A5CED-548A-9840-1C2C-005CF48AB8CD}"/>
              </a:ext>
            </a:extLst>
          </p:cNvPr>
          <p:cNvSpPr/>
          <p:nvPr/>
        </p:nvSpPr>
        <p:spPr>
          <a:xfrm>
            <a:off x="4104837" y="5803245"/>
            <a:ext cx="1244646" cy="5527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Product Model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1B92CBE-5264-5889-6E74-A0CA78F78128}"/>
              </a:ext>
            </a:extLst>
          </p:cNvPr>
          <p:cNvSpPr/>
          <p:nvPr/>
        </p:nvSpPr>
        <p:spPr>
          <a:xfrm>
            <a:off x="7684802" y="3315962"/>
            <a:ext cx="1244646" cy="55271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Tower Site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C9262AD-3D75-5BD0-ADD6-7E662A22EAE4}"/>
              </a:ext>
            </a:extLst>
          </p:cNvPr>
          <p:cNvSpPr/>
          <p:nvPr/>
        </p:nvSpPr>
        <p:spPr>
          <a:xfrm>
            <a:off x="7670423" y="4897471"/>
            <a:ext cx="1244646" cy="5527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Contract</a:t>
            </a:r>
            <a:endParaRPr lang="en-US" sz="140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AA8FB0C-23E0-AE8C-CFF4-1F8546888235}"/>
              </a:ext>
            </a:extLst>
          </p:cNvPr>
          <p:cNvSpPr/>
          <p:nvPr/>
        </p:nvSpPr>
        <p:spPr>
          <a:xfrm>
            <a:off x="9884535" y="5069999"/>
            <a:ext cx="1244646" cy="6821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Invoice 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GB" sz="1400">
                <a:solidFill>
                  <a:schemeClr val="tx1"/>
                </a:solidFill>
              </a:rPr>
              <a:t>Line Item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D502641-E053-F720-DC59-45FA4DD39FBB}"/>
              </a:ext>
            </a:extLst>
          </p:cNvPr>
          <p:cNvSpPr/>
          <p:nvPr/>
        </p:nvSpPr>
        <p:spPr>
          <a:xfrm>
            <a:off x="9151295" y="3301587"/>
            <a:ext cx="1244646" cy="5527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B155633-4540-E05D-DBEF-3157640BD604}"/>
              </a:ext>
            </a:extLst>
          </p:cNvPr>
          <p:cNvSpPr/>
          <p:nvPr/>
        </p:nvSpPr>
        <p:spPr>
          <a:xfrm>
            <a:off x="7713553" y="5673848"/>
            <a:ext cx="1273400" cy="66773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Contract Line Item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BDFD937-D43C-B55F-0632-96E3D3A621FF}"/>
              </a:ext>
            </a:extLst>
          </p:cNvPr>
          <p:cNvSpPr/>
          <p:nvPr/>
        </p:nvSpPr>
        <p:spPr>
          <a:xfrm>
            <a:off x="9855780" y="4379885"/>
            <a:ext cx="1244646" cy="5527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Invoice</a:t>
            </a:r>
            <a:endParaRPr lang="en-US" sz="1400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F091FEAE-7D2E-253B-FEC3-DD160267C003}"/>
              </a:ext>
            </a:extLst>
          </p:cNvPr>
          <p:cNvSpPr/>
          <p:nvPr/>
        </p:nvSpPr>
        <p:spPr>
          <a:xfrm>
            <a:off x="1667855" y="1632384"/>
            <a:ext cx="97789" cy="16524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44E94EE3-3BC4-B901-68D3-8E961F78232E}"/>
              </a:ext>
            </a:extLst>
          </p:cNvPr>
          <p:cNvSpPr/>
          <p:nvPr/>
        </p:nvSpPr>
        <p:spPr>
          <a:xfrm>
            <a:off x="2356388" y="1225546"/>
            <a:ext cx="8087439" cy="105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B8A0C7EE-EAAE-3F5C-1331-0F0CB315FF70}"/>
              </a:ext>
            </a:extLst>
          </p:cNvPr>
          <p:cNvSpPr/>
          <p:nvPr/>
        </p:nvSpPr>
        <p:spPr>
          <a:xfrm>
            <a:off x="5334080" y="1330458"/>
            <a:ext cx="140922" cy="5741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D83679A1-EABF-6A2E-9C10-B052545B0F92}"/>
              </a:ext>
            </a:extLst>
          </p:cNvPr>
          <p:cNvSpPr/>
          <p:nvPr/>
        </p:nvSpPr>
        <p:spPr>
          <a:xfrm flipH="1">
            <a:off x="10478322" y="1272949"/>
            <a:ext cx="74739" cy="31045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F61DC94F-A783-3E89-C2CF-569E144B4A2E}"/>
              </a:ext>
            </a:extLst>
          </p:cNvPr>
          <p:cNvSpPr/>
          <p:nvPr/>
        </p:nvSpPr>
        <p:spPr>
          <a:xfrm>
            <a:off x="5334079" y="3328907"/>
            <a:ext cx="112168" cy="8329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1" name="Arrow: Down 70">
            <a:extLst>
              <a:ext uri="{FF2B5EF4-FFF2-40B4-BE49-F238E27FC236}">
                <a16:creationId xmlns:a16="http://schemas.microsoft.com/office/drawing/2014/main" id="{3697006F-16A5-FB58-BC30-15FEE0C30F4D}"/>
              </a:ext>
            </a:extLst>
          </p:cNvPr>
          <p:cNvSpPr/>
          <p:nvPr/>
        </p:nvSpPr>
        <p:spPr>
          <a:xfrm flipH="1">
            <a:off x="8264207" y="2480646"/>
            <a:ext cx="132247" cy="8473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782D680E-ED38-B57E-A0C3-E8C00F058449}"/>
              </a:ext>
            </a:extLst>
          </p:cNvPr>
          <p:cNvSpPr/>
          <p:nvPr/>
        </p:nvSpPr>
        <p:spPr>
          <a:xfrm flipV="1">
            <a:off x="2356387" y="3430390"/>
            <a:ext cx="5269475" cy="955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7C6FB2E0-B7B8-E682-241D-D60E65A84F47}"/>
              </a:ext>
            </a:extLst>
          </p:cNvPr>
          <p:cNvSpPr/>
          <p:nvPr/>
        </p:nvSpPr>
        <p:spPr>
          <a:xfrm>
            <a:off x="9093785" y="1921360"/>
            <a:ext cx="1244646" cy="55271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Country</a:t>
            </a:r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9D985243-4D4A-1C0C-653F-92774840B736}"/>
              </a:ext>
            </a:extLst>
          </p:cNvPr>
          <p:cNvSpPr/>
          <p:nvPr/>
        </p:nvSpPr>
        <p:spPr>
          <a:xfrm>
            <a:off x="5348458" y="4680384"/>
            <a:ext cx="140921" cy="25783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9" name="Arrow: Down 78">
            <a:extLst>
              <a:ext uri="{FF2B5EF4-FFF2-40B4-BE49-F238E27FC236}">
                <a16:creationId xmlns:a16="http://schemas.microsoft.com/office/drawing/2014/main" id="{2FF665AF-9654-95D1-0006-12DD4F9BA5A8}"/>
              </a:ext>
            </a:extLst>
          </p:cNvPr>
          <p:cNvSpPr/>
          <p:nvPr/>
        </p:nvSpPr>
        <p:spPr>
          <a:xfrm>
            <a:off x="4457059" y="4421587"/>
            <a:ext cx="83414" cy="13792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0" name="Arrow: Left 79">
            <a:extLst>
              <a:ext uri="{FF2B5EF4-FFF2-40B4-BE49-F238E27FC236}">
                <a16:creationId xmlns:a16="http://schemas.microsoft.com/office/drawing/2014/main" id="{4CD24EDC-D3EF-967D-BA93-D47ED4458DA4}"/>
              </a:ext>
            </a:extLst>
          </p:cNvPr>
          <p:cNvSpPr/>
          <p:nvPr/>
        </p:nvSpPr>
        <p:spPr>
          <a:xfrm>
            <a:off x="4549154" y="4333070"/>
            <a:ext cx="160645" cy="16789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4613B884-94D8-7591-07B9-EA9B748B9DCD}"/>
              </a:ext>
            </a:extLst>
          </p:cNvPr>
          <p:cNvSpPr/>
          <p:nvPr/>
        </p:nvSpPr>
        <p:spPr>
          <a:xfrm flipV="1">
            <a:off x="5346878" y="6018314"/>
            <a:ext cx="409929" cy="811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2" name="Arrow: Down 81">
            <a:extLst>
              <a:ext uri="{FF2B5EF4-FFF2-40B4-BE49-F238E27FC236}">
                <a16:creationId xmlns:a16="http://schemas.microsoft.com/office/drawing/2014/main" id="{6BECB76E-D0F2-1C4F-9C52-FB3FA2FE0DD4}"/>
              </a:ext>
            </a:extLst>
          </p:cNvPr>
          <p:cNvSpPr/>
          <p:nvPr/>
        </p:nvSpPr>
        <p:spPr>
          <a:xfrm>
            <a:off x="1653477" y="3875251"/>
            <a:ext cx="126543" cy="2865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3" name="Arrow: Down 82">
            <a:extLst>
              <a:ext uri="{FF2B5EF4-FFF2-40B4-BE49-F238E27FC236}">
                <a16:creationId xmlns:a16="http://schemas.microsoft.com/office/drawing/2014/main" id="{C385E8ED-C1FA-7C24-6CC9-EC72E017FFA8}"/>
              </a:ext>
            </a:extLst>
          </p:cNvPr>
          <p:cNvSpPr/>
          <p:nvPr/>
        </p:nvSpPr>
        <p:spPr>
          <a:xfrm>
            <a:off x="1365929" y="4694759"/>
            <a:ext cx="212807" cy="24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4" name="Arrow: Down 83">
            <a:extLst>
              <a:ext uri="{FF2B5EF4-FFF2-40B4-BE49-F238E27FC236}">
                <a16:creationId xmlns:a16="http://schemas.microsoft.com/office/drawing/2014/main" id="{FC416BA8-724D-820B-FD50-B03C0BB0A00F}"/>
              </a:ext>
            </a:extLst>
          </p:cNvPr>
          <p:cNvSpPr/>
          <p:nvPr/>
        </p:nvSpPr>
        <p:spPr>
          <a:xfrm>
            <a:off x="1926645" y="4694758"/>
            <a:ext cx="212807" cy="2434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8" name="Arrow: Left 87">
            <a:extLst>
              <a:ext uri="{FF2B5EF4-FFF2-40B4-BE49-F238E27FC236}">
                <a16:creationId xmlns:a16="http://schemas.microsoft.com/office/drawing/2014/main" id="{5A2003D6-827D-3D19-FDB5-175D4D0B828A}"/>
              </a:ext>
            </a:extLst>
          </p:cNvPr>
          <p:cNvSpPr/>
          <p:nvPr/>
        </p:nvSpPr>
        <p:spPr>
          <a:xfrm>
            <a:off x="8919873" y="3585447"/>
            <a:ext cx="203776" cy="11038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9" name="Arrow: Down 88">
            <a:extLst>
              <a:ext uri="{FF2B5EF4-FFF2-40B4-BE49-F238E27FC236}">
                <a16:creationId xmlns:a16="http://schemas.microsoft.com/office/drawing/2014/main" id="{284E1B92-8B69-992A-C222-AB38CACFBE5D}"/>
              </a:ext>
            </a:extLst>
          </p:cNvPr>
          <p:cNvSpPr/>
          <p:nvPr/>
        </p:nvSpPr>
        <p:spPr>
          <a:xfrm flipH="1">
            <a:off x="8264206" y="3860873"/>
            <a:ext cx="117870" cy="10342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0" name="Arrow: Down 89">
            <a:extLst>
              <a:ext uri="{FF2B5EF4-FFF2-40B4-BE49-F238E27FC236}">
                <a16:creationId xmlns:a16="http://schemas.microsoft.com/office/drawing/2014/main" id="{9AAB3956-DA6C-8F0B-0177-A3CB58681F0B}"/>
              </a:ext>
            </a:extLst>
          </p:cNvPr>
          <p:cNvSpPr/>
          <p:nvPr/>
        </p:nvSpPr>
        <p:spPr>
          <a:xfrm flipH="1">
            <a:off x="8264205" y="5514268"/>
            <a:ext cx="103493" cy="1284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1" name="Arrow: Down 90">
            <a:extLst>
              <a:ext uri="{FF2B5EF4-FFF2-40B4-BE49-F238E27FC236}">
                <a16:creationId xmlns:a16="http://schemas.microsoft.com/office/drawing/2014/main" id="{0AFE5537-E866-09D2-E6FE-A9CFCE13F352}"/>
              </a:ext>
            </a:extLst>
          </p:cNvPr>
          <p:cNvSpPr/>
          <p:nvPr/>
        </p:nvSpPr>
        <p:spPr>
          <a:xfrm flipH="1">
            <a:off x="10507071" y="4924796"/>
            <a:ext cx="74738" cy="1571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2" name="Arrow: Down 91">
            <a:extLst>
              <a:ext uri="{FF2B5EF4-FFF2-40B4-BE49-F238E27FC236}">
                <a16:creationId xmlns:a16="http://schemas.microsoft.com/office/drawing/2014/main" id="{52D2C88B-795A-6C00-7B8C-016AB5E612BC}"/>
              </a:ext>
            </a:extLst>
          </p:cNvPr>
          <p:cNvSpPr/>
          <p:nvPr/>
        </p:nvSpPr>
        <p:spPr>
          <a:xfrm flipH="1">
            <a:off x="9701942" y="2480645"/>
            <a:ext cx="117870" cy="8473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3" name="Arrow: Left 92">
            <a:extLst>
              <a:ext uri="{FF2B5EF4-FFF2-40B4-BE49-F238E27FC236}">
                <a16:creationId xmlns:a16="http://schemas.microsoft.com/office/drawing/2014/main" id="{F54CA127-A70B-2951-1467-A1D30F61CD53}"/>
              </a:ext>
            </a:extLst>
          </p:cNvPr>
          <p:cNvSpPr/>
          <p:nvPr/>
        </p:nvSpPr>
        <p:spPr>
          <a:xfrm>
            <a:off x="5986890" y="2162087"/>
            <a:ext cx="1612757" cy="9600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4" name="Arrow: Down 93">
            <a:extLst>
              <a:ext uri="{FF2B5EF4-FFF2-40B4-BE49-F238E27FC236}">
                <a16:creationId xmlns:a16="http://schemas.microsoft.com/office/drawing/2014/main" id="{8EED9723-A4E2-1EEA-5F96-A71D6E2223F4}"/>
              </a:ext>
            </a:extLst>
          </p:cNvPr>
          <p:cNvSpPr/>
          <p:nvPr/>
        </p:nvSpPr>
        <p:spPr>
          <a:xfrm>
            <a:off x="5334078" y="2480647"/>
            <a:ext cx="126545" cy="3009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5DBD7FBB-B381-6931-23BF-7B923C3CC613}"/>
              </a:ext>
            </a:extLst>
          </p:cNvPr>
          <p:cNvSpPr/>
          <p:nvPr/>
        </p:nvSpPr>
        <p:spPr>
          <a:xfrm flipV="1">
            <a:off x="3420311" y="5155673"/>
            <a:ext cx="1258192" cy="955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6" name="Arrow: Right 95">
            <a:extLst>
              <a:ext uri="{FF2B5EF4-FFF2-40B4-BE49-F238E27FC236}">
                <a16:creationId xmlns:a16="http://schemas.microsoft.com/office/drawing/2014/main" id="{11CACEB0-1B3E-E740-3462-9F02AD4D7A2F}"/>
              </a:ext>
            </a:extLst>
          </p:cNvPr>
          <p:cNvSpPr/>
          <p:nvPr/>
        </p:nvSpPr>
        <p:spPr>
          <a:xfrm flipV="1">
            <a:off x="1076801" y="6090200"/>
            <a:ext cx="2969097" cy="811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9" name="Arrow: Down 98">
            <a:extLst>
              <a:ext uri="{FF2B5EF4-FFF2-40B4-BE49-F238E27FC236}">
                <a16:creationId xmlns:a16="http://schemas.microsoft.com/office/drawing/2014/main" id="{D609916D-9D17-91F6-76C2-DDC90078B2B8}"/>
              </a:ext>
            </a:extLst>
          </p:cNvPr>
          <p:cNvSpPr/>
          <p:nvPr/>
        </p:nvSpPr>
        <p:spPr>
          <a:xfrm flipH="1">
            <a:off x="974884" y="5499891"/>
            <a:ext cx="89116" cy="6747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CD91EFA3-1CC5-F4D5-9D56-6EBF17BE9BDB}"/>
              </a:ext>
            </a:extLst>
          </p:cNvPr>
          <p:cNvSpPr/>
          <p:nvPr/>
        </p:nvSpPr>
        <p:spPr>
          <a:xfrm flipV="1">
            <a:off x="7273443" y="6003936"/>
            <a:ext cx="409928" cy="109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8216E82D-7C79-C7C8-9836-94EC8AEF0FAC}"/>
              </a:ext>
            </a:extLst>
          </p:cNvPr>
          <p:cNvSpPr/>
          <p:nvPr/>
        </p:nvSpPr>
        <p:spPr>
          <a:xfrm>
            <a:off x="6180764" y="5164943"/>
            <a:ext cx="1445097" cy="91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03" name="Arrow: Down 102">
            <a:extLst>
              <a:ext uri="{FF2B5EF4-FFF2-40B4-BE49-F238E27FC236}">
                <a16:creationId xmlns:a16="http://schemas.microsoft.com/office/drawing/2014/main" id="{388A54B1-1B71-4AA1-A799-D732EDEF6102}"/>
              </a:ext>
            </a:extLst>
          </p:cNvPr>
          <p:cNvSpPr/>
          <p:nvPr/>
        </p:nvSpPr>
        <p:spPr>
          <a:xfrm rot="10800000" flipH="1">
            <a:off x="6668321" y="3645213"/>
            <a:ext cx="74737" cy="15805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C543BB68-BCAD-41B1-AD50-FC697D90EBAA}"/>
              </a:ext>
            </a:extLst>
          </p:cNvPr>
          <p:cNvSpPr/>
          <p:nvPr/>
        </p:nvSpPr>
        <p:spPr>
          <a:xfrm flipV="1">
            <a:off x="6741480" y="3574163"/>
            <a:ext cx="884382" cy="109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65B4AB-CE70-51F6-0555-610457933DED}"/>
              </a:ext>
            </a:extLst>
          </p:cNvPr>
          <p:cNvSpPr/>
          <p:nvPr/>
        </p:nvSpPr>
        <p:spPr>
          <a:xfrm>
            <a:off x="8456137" y="3181003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VSG-7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997812-0171-C0B8-CD9A-BA38A2360660}"/>
              </a:ext>
            </a:extLst>
          </p:cNvPr>
          <p:cNvSpPr/>
          <p:nvPr/>
        </p:nvSpPr>
        <p:spPr>
          <a:xfrm>
            <a:off x="8456136" y="4820021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BFBD7D-7E78-7850-C79D-DD404CBD5220}"/>
              </a:ext>
            </a:extLst>
          </p:cNvPr>
          <p:cNvSpPr/>
          <p:nvPr/>
        </p:nvSpPr>
        <p:spPr>
          <a:xfrm>
            <a:off x="8456135" y="5553266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6CBB85-31AD-2449-DF00-3D3F9349CA1C}"/>
              </a:ext>
            </a:extLst>
          </p:cNvPr>
          <p:cNvSpPr/>
          <p:nvPr/>
        </p:nvSpPr>
        <p:spPr>
          <a:xfrm>
            <a:off x="9821985" y="3181002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F27BAB-B9F2-FEDD-3B9F-6AE3CA6E6D8D}"/>
              </a:ext>
            </a:extLst>
          </p:cNvPr>
          <p:cNvSpPr/>
          <p:nvPr/>
        </p:nvSpPr>
        <p:spPr>
          <a:xfrm>
            <a:off x="9807607" y="1800775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ED052D-DF2B-452B-B2C5-AB0596E45057}"/>
              </a:ext>
            </a:extLst>
          </p:cNvPr>
          <p:cNvSpPr/>
          <p:nvPr/>
        </p:nvSpPr>
        <p:spPr>
          <a:xfrm>
            <a:off x="2638349" y="3704150"/>
            <a:ext cx="1503438" cy="5383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Approval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3B64E7-98BF-91A8-A780-D629CB03A3A6}"/>
              </a:ext>
            </a:extLst>
          </p:cNvPr>
          <p:cNvSpPr/>
          <p:nvPr/>
        </p:nvSpPr>
        <p:spPr>
          <a:xfrm>
            <a:off x="2667103" y="1892602"/>
            <a:ext cx="1503438" cy="5383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Data Stewardship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0E4B1CB7-E2EF-00A1-325A-D7826A7855B8}"/>
              </a:ext>
            </a:extLst>
          </p:cNvPr>
          <p:cNvSpPr/>
          <p:nvPr/>
        </p:nvSpPr>
        <p:spPr>
          <a:xfrm rot="10800000" flipH="1">
            <a:off x="3332773" y="3098873"/>
            <a:ext cx="74736" cy="6028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35F210B-0DB4-F3A7-6883-23982A5579E2}"/>
              </a:ext>
            </a:extLst>
          </p:cNvPr>
          <p:cNvSpPr/>
          <p:nvPr/>
        </p:nvSpPr>
        <p:spPr>
          <a:xfrm>
            <a:off x="3405933" y="3037093"/>
            <a:ext cx="1229437" cy="91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4FA6831-7ECB-49C0-06AD-A556594F54C4}"/>
              </a:ext>
            </a:extLst>
          </p:cNvPr>
          <p:cNvSpPr/>
          <p:nvPr/>
        </p:nvSpPr>
        <p:spPr>
          <a:xfrm>
            <a:off x="3391555" y="2893319"/>
            <a:ext cx="1243814" cy="91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2B6B709-F500-017D-FD1D-B14F9BC5C170}"/>
              </a:ext>
            </a:extLst>
          </p:cNvPr>
          <p:cNvSpPr/>
          <p:nvPr/>
        </p:nvSpPr>
        <p:spPr>
          <a:xfrm flipH="1">
            <a:off x="3332773" y="2451891"/>
            <a:ext cx="89116" cy="5166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521C4E-0051-A021-3AAD-95E05A0A7C4E}"/>
              </a:ext>
            </a:extLst>
          </p:cNvPr>
          <p:cNvSpPr/>
          <p:nvPr/>
        </p:nvSpPr>
        <p:spPr>
          <a:xfrm>
            <a:off x="9481969" y="5875131"/>
            <a:ext cx="1244646" cy="6821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Invoice </a:t>
            </a:r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GB" sz="1400">
                <a:solidFill>
                  <a:schemeClr val="tx1"/>
                </a:solidFill>
              </a:rPr>
              <a:t>Discrepancy Case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005316CA-AD4A-D57B-AE88-75A89DF609CD}"/>
              </a:ext>
            </a:extLst>
          </p:cNvPr>
          <p:cNvSpPr/>
          <p:nvPr/>
        </p:nvSpPr>
        <p:spPr>
          <a:xfrm flipH="1">
            <a:off x="10866507" y="5773059"/>
            <a:ext cx="89115" cy="4159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83916CF3-81DC-49BC-A6FA-5A1E1A606B0C}"/>
              </a:ext>
            </a:extLst>
          </p:cNvPr>
          <p:cNvSpPr/>
          <p:nvPr/>
        </p:nvSpPr>
        <p:spPr>
          <a:xfrm>
            <a:off x="10731420" y="6158994"/>
            <a:ext cx="203776" cy="11038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4CBC6B4-8DF6-F848-13FD-67C522AAD5D9}"/>
              </a:ext>
            </a:extLst>
          </p:cNvPr>
          <p:cNvSpPr/>
          <p:nvPr/>
        </p:nvSpPr>
        <p:spPr>
          <a:xfrm flipV="1">
            <a:off x="9027480" y="6133332"/>
            <a:ext cx="409928" cy="109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0F66354-BF56-38F6-BCCF-B4A9B8FBA75B}"/>
              </a:ext>
            </a:extLst>
          </p:cNvPr>
          <p:cNvSpPr/>
          <p:nvPr/>
        </p:nvSpPr>
        <p:spPr>
          <a:xfrm>
            <a:off x="7727931" y="6522112"/>
            <a:ext cx="1302154" cy="2076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REFX Contract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1648D63F-9F52-3E58-CA68-6390422E2EEC}"/>
              </a:ext>
            </a:extLst>
          </p:cNvPr>
          <p:cNvSpPr/>
          <p:nvPr/>
        </p:nvSpPr>
        <p:spPr>
          <a:xfrm flipH="1">
            <a:off x="8307336" y="6348155"/>
            <a:ext cx="103493" cy="1284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84A66D26-B41B-6DA1-74D7-EAF8DFCEA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698" y="-88408"/>
            <a:ext cx="32216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u="sng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                                                                  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Data Model.xlsx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48FD659-2C3E-3542-64CD-274267183D0C}"/>
              </a:ext>
            </a:extLst>
          </p:cNvPr>
          <p:cNvSpPr/>
          <p:nvPr/>
        </p:nvSpPr>
        <p:spPr>
          <a:xfrm>
            <a:off x="6878908" y="4131318"/>
            <a:ext cx="1341585" cy="5383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>
                <a:solidFill>
                  <a:schemeClr val="tx1"/>
                </a:solidFill>
              </a:rPr>
              <a:t>Site Contract PDF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FCE0856F-40B2-1F5C-97B7-45CDABB35947}"/>
              </a:ext>
            </a:extLst>
          </p:cNvPr>
          <p:cNvSpPr/>
          <p:nvPr/>
        </p:nvSpPr>
        <p:spPr>
          <a:xfrm>
            <a:off x="7917199" y="4673811"/>
            <a:ext cx="82381" cy="2220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D64383-45E0-017D-AD11-32FB1E3B4F5D}"/>
              </a:ext>
            </a:extLst>
          </p:cNvPr>
          <p:cNvSpPr/>
          <p:nvPr/>
        </p:nvSpPr>
        <p:spPr>
          <a:xfrm>
            <a:off x="2060171" y="862761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AE313B-F771-3264-00B2-5B3EFDCF8472}"/>
              </a:ext>
            </a:extLst>
          </p:cNvPr>
          <p:cNvSpPr/>
          <p:nvPr/>
        </p:nvSpPr>
        <p:spPr>
          <a:xfrm>
            <a:off x="2025534" y="3183397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47A19F6-F870-8E8F-ECF6-F29D11D698F5}"/>
              </a:ext>
            </a:extLst>
          </p:cNvPr>
          <p:cNvSpPr/>
          <p:nvPr/>
        </p:nvSpPr>
        <p:spPr>
          <a:xfrm>
            <a:off x="1979352" y="4014669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CA59D4D-14DE-F345-EB61-555E6BF0EFEC}"/>
              </a:ext>
            </a:extLst>
          </p:cNvPr>
          <p:cNvSpPr/>
          <p:nvPr/>
        </p:nvSpPr>
        <p:spPr>
          <a:xfrm>
            <a:off x="1309716" y="4892124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C74FD5A-CEAE-26E4-BD8D-23996BCBA3BC}"/>
              </a:ext>
            </a:extLst>
          </p:cNvPr>
          <p:cNvSpPr/>
          <p:nvPr/>
        </p:nvSpPr>
        <p:spPr>
          <a:xfrm>
            <a:off x="3041534" y="4857487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2C5A8DC-3DA3-AC36-FDFA-342C7A7DE0B5}"/>
              </a:ext>
            </a:extLst>
          </p:cNvPr>
          <p:cNvSpPr/>
          <p:nvPr/>
        </p:nvSpPr>
        <p:spPr>
          <a:xfrm>
            <a:off x="8346157" y="1791802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VSG-8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BC1D6F-7D17-EAFB-9427-2E6554010FDD}"/>
              </a:ext>
            </a:extLst>
          </p:cNvPr>
          <p:cNvSpPr/>
          <p:nvPr/>
        </p:nvSpPr>
        <p:spPr>
          <a:xfrm>
            <a:off x="3884977" y="3587517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VSG-16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CFCA379-E461-C2F9-4131-527157DF3ABF}"/>
              </a:ext>
            </a:extLst>
          </p:cNvPr>
          <p:cNvSpPr/>
          <p:nvPr/>
        </p:nvSpPr>
        <p:spPr>
          <a:xfrm>
            <a:off x="5786797" y="2628988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VSG-9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91B5FA6-AD1D-CC1B-B8C2-94653C190078}"/>
              </a:ext>
            </a:extLst>
          </p:cNvPr>
          <p:cNvSpPr/>
          <p:nvPr/>
        </p:nvSpPr>
        <p:spPr>
          <a:xfrm>
            <a:off x="5649912" y="3970945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VSG-7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540A066-455E-875D-5478-BED4E8BE636C}"/>
              </a:ext>
            </a:extLst>
          </p:cNvPr>
          <p:cNvSpPr/>
          <p:nvPr/>
        </p:nvSpPr>
        <p:spPr>
          <a:xfrm>
            <a:off x="5789000" y="4800314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VSG-7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3AC3BAE-D73C-747D-8C3B-B85983B22E58}"/>
              </a:ext>
            </a:extLst>
          </p:cNvPr>
          <p:cNvSpPr/>
          <p:nvPr/>
        </p:nvSpPr>
        <p:spPr>
          <a:xfrm>
            <a:off x="5008309" y="5684065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DDCC5AB-A911-8AAE-EA56-7302F96EC56B}"/>
              </a:ext>
            </a:extLst>
          </p:cNvPr>
          <p:cNvSpPr/>
          <p:nvPr/>
        </p:nvSpPr>
        <p:spPr>
          <a:xfrm>
            <a:off x="6934081" y="5573131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8BC59EB-246E-C248-6761-2EFD9BF1FAC4}"/>
              </a:ext>
            </a:extLst>
          </p:cNvPr>
          <p:cNvSpPr/>
          <p:nvPr/>
        </p:nvSpPr>
        <p:spPr>
          <a:xfrm>
            <a:off x="8815575" y="6387098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VSG-20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6631397-A8E7-12D9-C629-A9F49A0DAC98}"/>
              </a:ext>
            </a:extLst>
          </p:cNvPr>
          <p:cNvSpPr/>
          <p:nvPr/>
        </p:nvSpPr>
        <p:spPr>
          <a:xfrm>
            <a:off x="9335405" y="5713576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VSG-17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A78F05E-3C5F-DCC1-4CAA-FF2E8A8A1856}"/>
              </a:ext>
            </a:extLst>
          </p:cNvPr>
          <p:cNvSpPr/>
          <p:nvPr/>
        </p:nvSpPr>
        <p:spPr>
          <a:xfrm>
            <a:off x="10958827" y="5062810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VSG-13,14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1294A78-70EB-A35A-36B6-0943A96E858B}"/>
              </a:ext>
            </a:extLst>
          </p:cNvPr>
          <p:cNvSpPr/>
          <p:nvPr/>
        </p:nvSpPr>
        <p:spPr>
          <a:xfrm>
            <a:off x="10891147" y="4278925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VSG-13,14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F9E9AC8-E88F-2E18-038E-643F08DBF63A}"/>
              </a:ext>
            </a:extLst>
          </p:cNvPr>
          <p:cNvSpPr/>
          <p:nvPr/>
        </p:nvSpPr>
        <p:spPr>
          <a:xfrm>
            <a:off x="3724234" y="1748419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VSG-16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9DE2CFC-22F6-7214-92D6-15D329361196}"/>
              </a:ext>
            </a:extLst>
          </p:cNvPr>
          <p:cNvSpPr/>
          <p:nvPr/>
        </p:nvSpPr>
        <p:spPr>
          <a:xfrm>
            <a:off x="7038006" y="3960435"/>
            <a:ext cx="568912" cy="222038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VSG-6</a:t>
            </a:r>
            <a:endParaRPr lang="en-US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34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Integration Details – Vantage to SIP Site Agreement Submission(New Provide, Modify, Aggregation) </vt:lpstr>
      <vt:lpstr>Integration Details – SIP to Vantage Approval/ Rejection update </vt:lpstr>
      <vt:lpstr>Capability &amp; Application Mapping</vt:lpstr>
      <vt:lpstr>Security &amp; Access</vt:lpstr>
      <vt:lpstr>NFR</vt:lpstr>
      <vt:lpstr>Assumption &amp; Dependency</vt:lpstr>
      <vt:lpstr>NFR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2025-08-08T02:48:57Z</dcterms:created>
  <dcterms:modified xsi:type="dcterms:W3CDTF">2025-09-10T10:35:01Z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2025-08-08T02:49:08Z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a479d623-d2f3-42c5-a248-a95f8be39ef1</vt:lpwstr>
  </property>
  <property fmtid="{D5CDD505-2E9C-101B-9397-08002B2CF9AE}" pid="8" name="MSIP_Label_0359f705-2ba0-454b-9cfc-6ce5bcaac040_ContentBits">
    <vt:lpwstr>2</vt:lpwstr>
  </property>
  <property fmtid="{D5CDD505-2E9C-101B-9397-08002B2CF9AE}" pid="9" name="MSIP_Label_0359f705-2ba0-454b-9cfc-6ce5bcaac040_Tag">
    <vt:lpwstr>10, 3, 0, 2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C2 General</vt:lpwstr>
  </property>
</Properties>
</file>